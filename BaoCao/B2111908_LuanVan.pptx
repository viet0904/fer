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4"/>
  </p:notesMasterIdLst>
  <p:sldIdLst>
    <p:sldId id="256" r:id="rId2"/>
    <p:sldId id="257" r:id="rId3"/>
    <p:sldId id="259" r:id="rId4"/>
    <p:sldId id="266" r:id="rId5"/>
    <p:sldId id="296" r:id="rId6"/>
    <p:sldId id="260" r:id="rId7"/>
    <p:sldId id="258" r:id="rId8"/>
    <p:sldId id="298" r:id="rId9"/>
    <p:sldId id="299" r:id="rId10"/>
    <p:sldId id="300" r:id="rId11"/>
    <p:sldId id="271" r:id="rId12"/>
    <p:sldId id="273" r:id="rId13"/>
    <p:sldId id="276" r:id="rId14"/>
    <p:sldId id="277" r:id="rId15"/>
    <p:sldId id="301" r:id="rId16"/>
    <p:sldId id="282" r:id="rId17"/>
    <p:sldId id="294" r:id="rId18"/>
    <p:sldId id="295" r:id="rId19"/>
    <p:sldId id="283" r:id="rId20"/>
    <p:sldId id="284" r:id="rId21"/>
    <p:sldId id="285" r:id="rId22"/>
    <p:sldId id="286" r:id="rId23"/>
    <p:sldId id="287" r:id="rId24"/>
    <p:sldId id="288" r:id="rId25"/>
    <p:sldId id="289" r:id="rId26"/>
    <p:sldId id="290" r:id="rId27"/>
    <p:sldId id="291" r:id="rId28"/>
    <p:sldId id="292" r:id="rId29"/>
    <p:sldId id="293" r:id="rId30"/>
    <p:sldId id="262" r:id="rId31"/>
    <p:sldId id="264" r:id="rId32"/>
    <p:sldId id="263" r:id="rId33"/>
  </p:sldIdLst>
  <p:sldSz cx="12192000" cy="6858000"/>
  <p:notesSz cx="6858000" cy="9144000"/>
  <p:embeddedFontLst>
    <p:embeddedFont>
      <p:font typeface="Barlow" panose="00000500000000000000" pitchFamily="2" charset="0"/>
      <p:regular r:id="rId35"/>
      <p:bold r:id="rId36"/>
      <p:italic r:id="rId37"/>
      <p:boldItalic r:id="rId38"/>
    </p:embeddedFont>
    <p:embeddedFont>
      <p:font typeface="K2D" panose="00000500000000000000" pitchFamily="2" charset="-34"/>
      <p:regular r:id="rId39"/>
      <p:bold r:id="rId40"/>
      <p:italic r:id="rId41"/>
      <p:boldItalic r:id="rId42"/>
    </p:embeddedFont>
    <p:embeddedFont>
      <p:font typeface="Readex Pro" panose="020B0604020202020204" charset="-78"/>
      <p:regular r:id="rId43"/>
      <p:bold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CAA"/>
    <a:srgbClr val="CCFFFF"/>
    <a:srgbClr val="00AFEF"/>
    <a:srgbClr val="FFFFFF"/>
    <a:srgbClr val="27ACE3"/>
    <a:srgbClr val="1F5CA9"/>
    <a:srgbClr val="F2F2F2"/>
    <a:srgbClr val="000000"/>
    <a:srgbClr val="D9D9D9"/>
    <a:srgbClr val="BA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57" autoAdjust="0"/>
    <p:restoredTop sz="55782"/>
  </p:normalViewPr>
  <p:slideViewPr>
    <p:cSldViewPr snapToGrid="0">
      <p:cViewPr>
        <p:scale>
          <a:sx n="75" d="100"/>
          <a:sy n="75" d="100"/>
        </p:scale>
        <p:origin x="1003" y="21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06943F-3489-0D46-BBF3-368508261BF9}" type="datetimeFigureOut">
              <a:rPr lang="en-VN" smtClean="0"/>
              <a:t>04/09/2025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01E8D6-E36F-8B41-85EE-9350AC7B47F6}" type="slidenum">
              <a:rPr lang="en-VN" smtClean="0"/>
              <a:t>‹#›</a:t>
            </a:fld>
            <a:endParaRPr lang="en-VN"/>
          </a:p>
        </p:txBody>
      </p:sp>
    </p:spTree>
    <p:extLst>
      <p:ext uri="{BB962C8B-B14F-4D97-AF65-F5344CB8AC3E}">
        <p14:creationId xmlns:p14="http://schemas.microsoft.com/office/powerpoint/2010/main" val="2414331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1</a:t>
            </a:fld>
            <a:endParaRPr lang="en-VN"/>
          </a:p>
        </p:txBody>
      </p:sp>
    </p:spTree>
    <p:extLst>
      <p:ext uri="{BB962C8B-B14F-4D97-AF65-F5344CB8AC3E}">
        <p14:creationId xmlns:p14="http://schemas.microsoft.com/office/powerpoint/2010/main" val="3955327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2</a:t>
            </a:fld>
            <a:endParaRPr lang="en-VN"/>
          </a:p>
        </p:txBody>
      </p:sp>
    </p:spTree>
    <p:extLst>
      <p:ext uri="{BB962C8B-B14F-4D97-AF65-F5344CB8AC3E}">
        <p14:creationId xmlns:p14="http://schemas.microsoft.com/office/powerpoint/2010/main" val="3142400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3</a:t>
            </a:fld>
            <a:endParaRPr lang="en-VN"/>
          </a:p>
        </p:txBody>
      </p:sp>
    </p:spTree>
    <p:extLst>
      <p:ext uri="{BB962C8B-B14F-4D97-AF65-F5344CB8AC3E}">
        <p14:creationId xmlns:p14="http://schemas.microsoft.com/office/powerpoint/2010/main" val="697554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4</a:t>
            </a:fld>
            <a:endParaRPr lang="en-VN"/>
          </a:p>
        </p:txBody>
      </p:sp>
    </p:spTree>
    <p:extLst>
      <p:ext uri="{BB962C8B-B14F-4D97-AF65-F5344CB8AC3E}">
        <p14:creationId xmlns:p14="http://schemas.microsoft.com/office/powerpoint/2010/main" val="645984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6</a:t>
            </a:fld>
            <a:endParaRPr lang="en-VN"/>
          </a:p>
        </p:txBody>
      </p:sp>
    </p:spTree>
    <p:extLst>
      <p:ext uri="{BB962C8B-B14F-4D97-AF65-F5344CB8AC3E}">
        <p14:creationId xmlns:p14="http://schemas.microsoft.com/office/powerpoint/2010/main" val="3197609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7</a:t>
            </a:fld>
            <a:endParaRPr lang="en-VN"/>
          </a:p>
        </p:txBody>
      </p:sp>
    </p:spTree>
    <p:extLst>
      <p:ext uri="{BB962C8B-B14F-4D97-AF65-F5344CB8AC3E}">
        <p14:creationId xmlns:p14="http://schemas.microsoft.com/office/powerpoint/2010/main" val="439450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8B3B7-CDE6-99B1-D9F3-0ACAEBFA1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CF5E4-4689-1305-4978-3662427E3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977EA-2339-769B-053C-39646831BB73}"/>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4FF61B4C-E37D-FFF2-227B-3C9E1E2E544E}"/>
              </a:ext>
            </a:extLst>
          </p:cNvPr>
          <p:cNvSpPr>
            <a:spLocks noGrp="1"/>
          </p:cNvSpPr>
          <p:nvPr>
            <p:ph type="sldNum" sz="quarter" idx="5"/>
          </p:nvPr>
        </p:nvSpPr>
        <p:spPr/>
        <p:txBody>
          <a:bodyPr/>
          <a:lstStyle/>
          <a:p>
            <a:fld id="{AB01E8D6-E36F-8B41-85EE-9350AC7B47F6}" type="slidenum">
              <a:rPr lang="en-VN" smtClean="0"/>
              <a:t>8</a:t>
            </a:fld>
            <a:endParaRPr lang="en-VN"/>
          </a:p>
        </p:txBody>
      </p:sp>
    </p:spTree>
    <p:extLst>
      <p:ext uri="{BB962C8B-B14F-4D97-AF65-F5344CB8AC3E}">
        <p14:creationId xmlns:p14="http://schemas.microsoft.com/office/powerpoint/2010/main" val="2106011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3C29D-A55B-9228-ECF1-44BA1B630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6AA03-81D8-F9FB-2648-15492F4B4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4FE7F-571D-6E4A-0EEE-28A25575A304}"/>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0BF21E58-B63B-C140-826A-5B90C4ECDC90}"/>
              </a:ext>
            </a:extLst>
          </p:cNvPr>
          <p:cNvSpPr>
            <a:spLocks noGrp="1"/>
          </p:cNvSpPr>
          <p:nvPr>
            <p:ph type="sldNum" sz="quarter" idx="5"/>
          </p:nvPr>
        </p:nvSpPr>
        <p:spPr/>
        <p:txBody>
          <a:bodyPr/>
          <a:lstStyle/>
          <a:p>
            <a:fld id="{AB01E8D6-E36F-8B41-85EE-9350AC7B47F6}" type="slidenum">
              <a:rPr lang="en-VN" smtClean="0"/>
              <a:t>9</a:t>
            </a:fld>
            <a:endParaRPr lang="en-VN"/>
          </a:p>
        </p:txBody>
      </p:sp>
    </p:spTree>
    <p:extLst>
      <p:ext uri="{BB962C8B-B14F-4D97-AF65-F5344CB8AC3E}">
        <p14:creationId xmlns:p14="http://schemas.microsoft.com/office/powerpoint/2010/main" val="2962418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8D7E5-AEEC-87B8-708C-4663EC0FB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F066C-614F-3265-DC6F-A40379C1B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50EA4-51DF-E489-B73E-C0D976ECF4F4}"/>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127203F4-6B54-D1D4-0C61-0935A0B40F6B}"/>
              </a:ext>
            </a:extLst>
          </p:cNvPr>
          <p:cNvSpPr>
            <a:spLocks noGrp="1"/>
          </p:cNvSpPr>
          <p:nvPr>
            <p:ph type="sldNum" sz="quarter" idx="5"/>
          </p:nvPr>
        </p:nvSpPr>
        <p:spPr/>
        <p:txBody>
          <a:bodyPr/>
          <a:lstStyle/>
          <a:p>
            <a:fld id="{AB01E8D6-E36F-8B41-85EE-9350AC7B47F6}" type="slidenum">
              <a:rPr lang="en-VN" smtClean="0"/>
              <a:t>10</a:t>
            </a:fld>
            <a:endParaRPr lang="en-VN"/>
          </a:p>
        </p:txBody>
      </p:sp>
    </p:spTree>
    <p:extLst>
      <p:ext uri="{BB962C8B-B14F-4D97-AF65-F5344CB8AC3E}">
        <p14:creationId xmlns:p14="http://schemas.microsoft.com/office/powerpoint/2010/main" val="3394578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26E9B-FF79-443F-8D5A-556EDA5CE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FF2E4-6727-8E36-D0E3-170A32C99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D78C89-B1B7-2312-DBE8-A379E3388424}"/>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86B012A8-B3D0-91C5-513F-C178A618F203}"/>
              </a:ext>
            </a:extLst>
          </p:cNvPr>
          <p:cNvSpPr>
            <a:spLocks noGrp="1"/>
          </p:cNvSpPr>
          <p:nvPr>
            <p:ph type="sldNum" sz="quarter" idx="5"/>
          </p:nvPr>
        </p:nvSpPr>
        <p:spPr/>
        <p:txBody>
          <a:bodyPr/>
          <a:lstStyle/>
          <a:p>
            <a:fld id="{AB01E8D6-E36F-8B41-85EE-9350AC7B47F6}" type="slidenum">
              <a:rPr lang="en-VN" smtClean="0"/>
              <a:t>11</a:t>
            </a:fld>
            <a:endParaRPr lang="en-VN"/>
          </a:p>
        </p:txBody>
      </p:sp>
    </p:spTree>
    <p:extLst>
      <p:ext uri="{BB962C8B-B14F-4D97-AF65-F5344CB8AC3E}">
        <p14:creationId xmlns:p14="http://schemas.microsoft.com/office/powerpoint/2010/main" val="1371052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F4FA4-0AF3-026D-67DF-D4912C4A4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4B9CF-ACE9-29D9-5245-DB6F884DC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27924-622C-293E-11DA-760DF072294B}"/>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FCDB8729-C4B0-1DF1-5DEC-9E4AD4256226}"/>
              </a:ext>
            </a:extLst>
          </p:cNvPr>
          <p:cNvSpPr>
            <a:spLocks noGrp="1"/>
          </p:cNvSpPr>
          <p:nvPr>
            <p:ph type="sldNum" sz="quarter" idx="5"/>
          </p:nvPr>
        </p:nvSpPr>
        <p:spPr/>
        <p:txBody>
          <a:bodyPr/>
          <a:lstStyle/>
          <a:p>
            <a:fld id="{AB01E8D6-E36F-8B41-85EE-9350AC7B47F6}" type="slidenum">
              <a:rPr lang="en-VN" smtClean="0"/>
              <a:t>12</a:t>
            </a:fld>
            <a:endParaRPr lang="en-VN"/>
          </a:p>
        </p:txBody>
      </p:sp>
    </p:spTree>
    <p:extLst>
      <p:ext uri="{BB962C8B-B14F-4D97-AF65-F5344CB8AC3E}">
        <p14:creationId xmlns:p14="http://schemas.microsoft.com/office/powerpoint/2010/main" val="4189126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71349-BA1E-82C1-A0F0-63D7F025D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602AE-C683-76B6-D39D-F5FF184F4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DD823-8C1E-C3C4-817D-459403AA14DC}"/>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01DD6182-E7E7-3F84-13E9-B29600114E4F}"/>
              </a:ext>
            </a:extLst>
          </p:cNvPr>
          <p:cNvSpPr>
            <a:spLocks noGrp="1"/>
          </p:cNvSpPr>
          <p:nvPr>
            <p:ph type="sldNum" sz="quarter" idx="5"/>
          </p:nvPr>
        </p:nvSpPr>
        <p:spPr/>
        <p:txBody>
          <a:bodyPr/>
          <a:lstStyle/>
          <a:p>
            <a:fld id="{AB01E8D6-E36F-8B41-85EE-9350AC7B47F6}" type="slidenum">
              <a:rPr lang="en-VN" smtClean="0"/>
              <a:t>13</a:t>
            </a:fld>
            <a:endParaRPr lang="en-VN"/>
          </a:p>
        </p:txBody>
      </p:sp>
    </p:spTree>
    <p:extLst>
      <p:ext uri="{BB962C8B-B14F-4D97-AF65-F5344CB8AC3E}">
        <p14:creationId xmlns:p14="http://schemas.microsoft.com/office/powerpoint/2010/main" val="3676656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25A65-4FD6-5856-8A49-D4D5C32F3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6CA54-660A-26C7-66CE-ED0D2F951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47166-9921-F7C9-26AD-9FA93C6ED33A}"/>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9E8EE970-6D5B-5AD8-C620-4A61FE7A6B2F}"/>
              </a:ext>
            </a:extLst>
          </p:cNvPr>
          <p:cNvSpPr>
            <a:spLocks noGrp="1"/>
          </p:cNvSpPr>
          <p:nvPr>
            <p:ph type="sldNum" sz="quarter" idx="5"/>
          </p:nvPr>
        </p:nvSpPr>
        <p:spPr/>
        <p:txBody>
          <a:bodyPr/>
          <a:lstStyle/>
          <a:p>
            <a:fld id="{AB01E8D6-E36F-8B41-85EE-9350AC7B47F6}" type="slidenum">
              <a:rPr lang="en-VN" smtClean="0"/>
              <a:t>14</a:t>
            </a:fld>
            <a:endParaRPr lang="en-VN"/>
          </a:p>
        </p:txBody>
      </p:sp>
    </p:spTree>
    <p:extLst>
      <p:ext uri="{BB962C8B-B14F-4D97-AF65-F5344CB8AC3E}">
        <p14:creationId xmlns:p14="http://schemas.microsoft.com/office/powerpoint/2010/main" val="260914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7A5D4-2287-E907-9F7C-7B2933411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E02ED-0AF8-0CDD-0C68-5FF02A6FB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EDBC7-9E09-A52D-9852-7023949C586F}"/>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641A24BB-07B0-D4C5-50C1-3F96CB3F9992}"/>
              </a:ext>
            </a:extLst>
          </p:cNvPr>
          <p:cNvSpPr>
            <a:spLocks noGrp="1"/>
          </p:cNvSpPr>
          <p:nvPr>
            <p:ph type="sldNum" sz="quarter" idx="5"/>
          </p:nvPr>
        </p:nvSpPr>
        <p:spPr/>
        <p:txBody>
          <a:bodyPr/>
          <a:lstStyle/>
          <a:p>
            <a:fld id="{AB01E8D6-E36F-8B41-85EE-9350AC7B47F6}" type="slidenum">
              <a:rPr lang="en-VN" smtClean="0"/>
              <a:t>15</a:t>
            </a:fld>
            <a:endParaRPr lang="en-VN"/>
          </a:p>
        </p:txBody>
      </p:sp>
    </p:spTree>
    <p:extLst>
      <p:ext uri="{BB962C8B-B14F-4D97-AF65-F5344CB8AC3E}">
        <p14:creationId xmlns:p14="http://schemas.microsoft.com/office/powerpoint/2010/main" val="4111444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890C-09AF-E8E0-B4FD-BB5D82038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C8A1B-8F24-D454-5E0C-3C85BF4DF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98463-C1F8-FFD7-04C8-2C3D43924A84}"/>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82A4759E-E2B3-A659-B593-69BAF3C89DD6}"/>
              </a:ext>
            </a:extLst>
          </p:cNvPr>
          <p:cNvSpPr>
            <a:spLocks noGrp="1"/>
          </p:cNvSpPr>
          <p:nvPr>
            <p:ph type="sldNum" sz="quarter" idx="5"/>
          </p:nvPr>
        </p:nvSpPr>
        <p:spPr/>
        <p:txBody>
          <a:bodyPr/>
          <a:lstStyle/>
          <a:p>
            <a:fld id="{AB01E8D6-E36F-8B41-85EE-9350AC7B47F6}" type="slidenum">
              <a:rPr lang="en-VN" smtClean="0"/>
              <a:t>16</a:t>
            </a:fld>
            <a:endParaRPr lang="en-VN"/>
          </a:p>
        </p:txBody>
      </p:sp>
    </p:spTree>
    <p:extLst>
      <p:ext uri="{BB962C8B-B14F-4D97-AF65-F5344CB8AC3E}">
        <p14:creationId xmlns:p14="http://schemas.microsoft.com/office/powerpoint/2010/main" val="1028611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7C88-D524-D8C1-675F-3E1A83121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C4FC8-5A16-07A2-C695-1C193F626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DC846-71DD-E72A-475B-21824921276D}"/>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81A75E9B-71D6-168E-FBF2-0359B77C9F0B}"/>
              </a:ext>
            </a:extLst>
          </p:cNvPr>
          <p:cNvSpPr>
            <a:spLocks noGrp="1"/>
          </p:cNvSpPr>
          <p:nvPr>
            <p:ph type="sldNum" sz="quarter" idx="5"/>
          </p:nvPr>
        </p:nvSpPr>
        <p:spPr/>
        <p:txBody>
          <a:bodyPr/>
          <a:lstStyle/>
          <a:p>
            <a:fld id="{AB01E8D6-E36F-8B41-85EE-9350AC7B47F6}" type="slidenum">
              <a:rPr lang="en-VN" smtClean="0"/>
              <a:t>17</a:t>
            </a:fld>
            <a:endParaRPr lang="en-VN"/>
          </a:p>
        </p:txBody>
      </p:sp>
    </p:spTree>
    <p:extLst>
      <p:ext uri="{BB962C8B-B14F-4D97-AF65-F5344CB8AC3E}">
        <p14:creationId xmlns:p14="http://schemas.microsoft.com/office/powerpoint/2010/main" val="3164567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6321-2BEE-7829-C54C-BCD149782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CFCA6-27C0-5422-A017-8E75F32EF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C8289-D5DC-87AE-7879-6E4E4AF4D11B}"/>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E75D1377-8794-8076-8926-D585B7AA4CE6}"/>
              </a:ext>
            </a:extLst>
          </p:cNvPr>
          <p:cNvSpPr>
            <a:spLocks noGrp="1"/>
          </p:cNvSpPr>
          <p:nvPr>
            <p:ph type="sldNum" sz="quarter" idx="5"/>
          </p:nvPr>
        </p:nvSpPr>
        <p:spPr/>
        <p:txBody>
          <a:bodyPr/>
          <a:lstStyle/>
          <a:p>
            <a:fld id="{AB01E8D6-E36F-8B41-85EE-9350AC7B47F6}" type="slidenum">
              <a:rPr lang="en-VN" smtClean="0"/>
              <a:t>18</a:t>
            </a:fld>
            <a:endParaRPr lang="en-VN"/>
          </a:p>
        </p:txBody>
      </p:sp>
    </p:spTree>
    <p:extLst>
      <p:ext uri="{BB962C8B-B14F-4D97-AF65-F5344CB8AC3E}">
        <p14:creationId xmlns:p14="http://schemas.microsoft.com/office/powerpoint/2010/main" val="2109326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31</a:t>
            </a:fld>
            <a:endParaRPr lang="en-VN"/>
          </a:p>
        </p:txBody>
      </p:sp>
    </p:spTree>
    <p:extLst>
      <p:ext uri="{BB962C8B-B14F-4D97-AF65-F5344CB8AC3E}">
        <p14:creationId xmlns:p14="http://schemas.microsoft.com/office/powerpoint/2010/main" val="42330380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4/9/2025</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4/9/2025</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4/9/2025</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88158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927984"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329375" y="1162050"/>
            <a:ext cx="3368256" cy="1949450"/>
          </a:xfrm>
        </p:spPr>
        <p:txBody>
          <a:bodyPr anchor="ctr" anchorCtr="0">
            <a:normAutofit/>
          </a:bodyPr>
          <a:lstStyle>
            <a:lvl1pPr marL="0" indent="0" algn="ctr">
              <a:buNone/>
              <a:defRPr sz="2000" baseline="0">
                <a:latin typeface="Readex Pro" pitchFamily="2" charset="-78"/>
                <a:cs typeface="Readex Pro" pitchFamily="2" charset="-78"/>
              </a:defRPr>
            </a:lvl1pPr>
          </a:lstStyle>
          <a:p>
            <a:r>
              <a:rPr lang="en-US"/>
              <a:t>Chèn ảnh</a:t>
            </a:r>
          </a:p>
        </p:txBody>
      </p:sp>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4378402" y="1162050"/>
            <a:ext cx="3368256"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8426261" y="1162050"/>
            <a:ext cx="3368256"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1" name="Text Placeholder 20"/>
          <p:cNvSpPr>
            <a:spLocks noGrp="1"/>
          </p:cNvSpPr>
          <p:nvPr>
            <p:ph type="body" sz="quarter" idx="15" hasCustomPrompt="1"/>
          </p:nvPr>
        </p:nvSpPr>
        <p:spPr>
          <a:xfrm>
            <a:off x="329912" y="3302000"/>
            <a:ext cx="3367088" cy="2613025"/>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374"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7232"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5090"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4/9/2025</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4/9/2025</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4/9/2025</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4/9/2025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F06496D2-BF78-9295-4B73-6F7AE35E0E4D}"/>
              </a:ext>
            </a:extLst>
          </p:cNvPr>
          <p:cNvSpPr>
            <a:spLocks noGrp="1"/>
          </p:cNvSpPr>
          <p:nvPr>
            <p:ph type="ctrTitle"/>
          </p:nvPr>
        </p:nvSpPr>
        <p:spPr>
          <a:xfrm>
            <a:off x="493144" y="1847560"/>
            <a:ext cx="11205713" cy="1036706"/>
          </a:xfrm>
        </p:spPr>
        <p:txBody>
          <a:bodyPr>
            <a:normAutofit/>
          </a:bodyPr>
          <a:lstStyle/>
          <a:p>
            <a:r>
              <a:rPr lang="vi-VN" sz="2000" dirty="0"/>
              <a:t>TRƯỜNG ĐẠI HỌC CẦN THƠ</a:t>
            </a:r>
            <a:br>
              <a:rPr lang="vi-VN" sz="2000" dirty="0"/>
            </a:br>
            <a:r>
              <a:rPr lang="vi-VN" sz="2000" dirty="0"/>
              <a:t>TRƯỜNG CÔNG NGHỆ THÔNG TIN &amp; TRUYỀN THÔNG</a:t>
            </a:r>
            <a:br>
              <a:rPr lang="vi-VN" sz="2000" dirty="0"/>
            </a:br>
            <a:r>
              <a:rPr lang="vi-VN" sz="2000" dirty="0"/>
              <a:t>KHOA CÔNG NGHỆ THÔNG TIN</a:t>
            </a:r>
            <a:endParaRPr lang="en-VN" sz="3200" dirty="0"/>
          </a:p>
        </p:txBody>
      </p:sp>
      <p:sp>
        <p:nvSpPr>
          <p:cNvPr id="30" name="Subtitle 29">
            <a:extLst>
              <a:ext uri="{FF2B5EF4-FFF2-40B4-BE49-F238E27FC236}">
                <a16:creationId xmlns:a16="http://schemas.microsoft.com/office/drawing/2014/main" id="{DC703D90-1A36-45C5-8B8B-7A9E75E5CE08}"/>
              </a:ext>
            </a:extLst>
          </p:cNvPr>
          <p:cNvSpPr>
            <a:spLocks noGrp="1"/>
          </p:cNvSpPr>
          <p:nvPr>
            <p:ph type="subTitle" idx="1"/>
          </p:nvPr>
        </p:nvSpPr>
        <p:spPr>
          <a:xfrm>
            <a:off x="493144" y="3367150"/>
            <a:ext cx="11205713" cy="1036706"/>
          </a:xfrm>
        </p:spPr>
        <p:txBody>
          <a:bodyPr>
            <a:normAutofit lnSpcReduction="10000"/>
          </a:bodyPr>
          <a:lstStyle/>
          <a:p>
            <a:r>
              <a:rPr lang="en-US" sz="3200"/>
              <a:t>Đánh giá khả năng nhận diện cảm xúc khuôn mặt của </a:t>
            </a:r>
          </a:p>
          <a:p>
            <a:r>
              <a:rPr lang="en-US" sz="3200"/>
              <a:t>các giải thuật máy học </a:t>
            </a:r>
          </a:p>
        </p:txBody>
      </p:sp>
      <p:sp>
        <p:nvSpPr>
          <p:cNvPr id="37" name="Text Placeholder 30">
            <a:extLst>
              <a:ext uri="{FF2B5EF4-FFF2-40B4-BE49-F238E27FC236}">
                <a16:creationId xmlns:a16="http://schemas.microsoft.com/office/drawing/2014/main" id="{41127F9D-0BD1-5B2A-3B16-78EB40A52A70}"/>
              </a:ext>
            </a:extLst>
          </p:cNvPr>
          <p:cNvSpPr txBox="1">
            <a:spLocks/>
          </p:cNvSpPr>
          <p:nvPr/>
        </p:nvSpPr>
        <p:spPr>
          <a:xfrm>
            <a:off x="1513291" y="5005296"/>
            <a:ext cx="3216707" cy="13065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rgbClr val="00AFEF"/>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VN" b="1" dirty="0"/>
              <a:t>Giảng viên hướng dẫn</a:t>
            </a:r>
          </a:p>
          <a:p>
            <a:pPr algn="l"/>
            <a:r>
              <a:rPr lang="en-VN"/>
              <a:t>ThS</a:t>
            </a:r>
            <a:r>
              <a:rPr lang="en-VN" dirty="0"/>
              <a:t>. Sử Kim Anh</a:t>
            </a:r>
          </a:p>
          <a:p>
            <a:pPr algn="l"/>
            <a:endParaRPr lang="en-VN" dirty="0"/>
          </a:p>
        </p:txBody>
      </p:sp>
      <p:sp>
        <p:nvSpPr>
          <p:cNvPr id="38" name="Text Placeholder 30">
            <a:extLst>
              <a:ext uri="{FF2B5EF4-FFF2-40B4-BE49-F238E27FC236}">
                <a16:creationId xmlns:a16="http://schemas.microsoft.com/office/drawing/2014/main" id="{3F56CA08-F23B-43BC-C851-AD1B656E147A}"/>
              </a:ext>
            </a:extLst>
          </p:cNvPr>
          <p:cNvSpPr txBox="1">
            <a:spLocks/>
          </p:cNvSpPr>
          <p:nvPr/>
        </p:nvSpPr>
        <p:spPr>
          <a:xfrm>
            <a:off x="7676606" y="4741953"/>
            <a:ext cx="3216707" cy="156990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rgbClr val="00AFEF"/>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VN" b="1" dirty="0"/>
              <a:t>Sinh viên thực hiện</a:t>
            </a:r>
          </a:p>
          <a:p>
            <a:pPr algn="l"/>
            <a:r>
              <a:rPr lang="en-US"/>
              <a:t>Nguyễn Quốc Việt</a:t>
            </a:r>
            <a:endParaRPr lang="en-VN" dirty="0"/>
          </a:p>
          <a:p>
            <a:pPr algn="l"/>
            <a:r>
              <a:rPr lang="en-VN" dirty="0"/>
              <a:t>MSSV</a:t>
            </a:r>
            <a:r>
              <a:rPr lang="en-VN"/>
              <a:t>: B2</a:t>
            </a:r>
            <a:r>
              <a:rPr lang="en-US"/>
              <a:t>111908</a:t>
            </a:r>
            <a:endParaRPr lang="en-VN" dirty="0"/>
          </a:p>
          <a:p>
            <a:pPr algn="l"/>
            <a:r>
              <a:rPr lang="en-VN"/>
              <a:t>Khoá 4</a:t>
            </a:r>
            <a:r>
              <a:rPr lang="en-US"/>
              <a:t>7</a:t>
            </a:r>
            <a:endParaRPr lang="en-VN" dirty="0"/>
          </a:p>
        </p:txBody>
      </p:sp>
    </p:spTree>
    <p:extLst>
      <p:ext uri="{BB962C8B-B14F-4D97-AF65-F5344CB8AC3E}">
        <p14:creationId xmlns:p14="http://schemas.microsoft.com/office/powerpoint/2010/main" val="205425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a:extLst>
              <a:ext uri="{FF2B5EF4-FFF2-40B4-BE49-F238E27FC236}">
                <a16:creationId xmlns:a16="http://schemas.microsoft.com/office/drawing/2014/main" id="{FFDD1CA6-82C4-12EF-ED4E-B2F02524B6FC}"/>
              </a:ext>
            </a:extLst>
          </p:cNvPr>
          <p:cNvSpPr>
            <a:spLocks noGrp="1"/>
          </p:cNvSpPr>
          <p:nvPr>
            <p:ph type="title"/>
          </p:nvPr>
        </p:nvSpPr>
        <p:spPr/>
        <p:txBody>
          <a:bodyPr/>
          <a:lstStyle/>
          <a:p>
            <a:r>
              <a:rPr lang="en-VN" dirty="0"/>
              <a:t>Nội dung</a:t>
            </a:r>
          </a:p>
        </p:txBody>
      </p:sp>
      <p:sp>
        <p:nvSpPr>
          <p:cNvPr id="31" name="Content Placeholder 30">
            <a:extLst>
              <a:ext uri="{FF2B5EF4-FFF2-40B4-BE49-F238E27FC236}">
                <a16:creationId xmlns:a16="http://schemas.microsoft.com/office/drawing/2014/main" id="{25DAEDA8-8D8E-12D5-FFDB-9CA38494263B}"/>
              </a:ext>
            </a:extLst>
          </p:cNvPr>
          <p:cNvSpPr>
            <a:spLocks noGrp="1"/>
          </p:cNvSpPr>
          <p:nvPr>
            <p:ph idx="1"/>
          </p:nvPr>
        </p:nvSpPr>
        <p:spPr/>
        <p:txBody>
          <a:bodyPr/>
          <a:lstStyle/>
          <a:p>
            <a:pPr marL="457200" indent="-457200">
              <a:buFont typeface="+mj-lt"/>
              <a:buAutoNum type="arabicPeriod"/>
            </a:pPr>
            <a:r>
              <a:rPr lang="en-VN" dirty="0"/>
              <a:t>Đặt vấn đề</a:t>
            </a:r>
          </a:p>
          <a:p>
            <a:pPr marL="457200" indent="-457200">
              <a:buFont typeface="+mj-lt"/>
              <a:buAutoNum type="arabicPeriod"/>
            </a:pPr>
            <a:r>
              <a:rPr lang="en-VN" dirty="0"/>
              <a:t>Nội dung nghiên cứu</a:t>
            </a:r>
          </a:p>
          <a:p>
            <a:pPr marL="457200" indent="-457200">
              <a:buFont typeface="+mj-lt"/>
              <a:buAutoNum type="arabicPeriod"/>
            </a:pPr>
            <a:r>
              <a:rPr lang="en-VN" dirty="0"/>
              <a:t>Phương pháp thực nghiệm</a:t>
            </a:r>
          </a:p>
          <a:p>
            <a:pPr marL="457200" indent="-457200">
              <a:buFont typeface="+mj-lt"/>
              <a:buAutoNum type="arabicPeriod"/>
            </a:pPr>
            <a:r>
              <a:rPr lang="en-VN" dirty="0"/>
              <a:t>Kết quả thực nghiệm</a:t>
            </a:r>
          </a:p>
          <a:p>
            <a:pPr marL="457200" indent="-457200">
              <a:buFont typeface="+mj-lt"/>
              <a:buAutoNum type="arabicPeriod"/>
            </a:pPr>
            <a:r>
              <a:rPr lang="en-VN" dirty="0"/>
              <a:t>Kết luận</a:t>
            </a:r>
          </a:p>
        </p:txBody>
      </p:sp>
    </p:spTree>
    <p:extLst>
      <p:ext uri="{BB962C8B-B14F-4D97-AF65-F5344CB8AC3E}">
        <p14:creationId xmlns:p14="http://schemas.microsoft.com/office/powerpoint/2010/main" val="3591017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4761-A3AC-54C7-4545-D4B2C12D6972}"/>
              </a:ext>
            </a:extLst>
          </p:cNvPr>
          <p:cNvSpPr>
            <a:spLocks noGrp="1"/>
          </p:cNvSpPr>
          <p:nvPr>
            <p:ph type="title"/>
          </p:nvPr>
        </p:nvSpPr>
        <p:spPr/>
        <p:txBody>
          <a:bodyPr/>
          <a:lstStyle/>
          <a:p>
            <a:r>
              <a:rPr lang="en-VN" dirty="0"/>
              <a:t>1. Đặt vấn đề</a:t>
            </a:r>
          </a:p>
        </p:txBody>
      </p:sp>
      <p:sp>
        <p:nvSpPr>
          <p:cNvPr id="3" name="Content Placeholder 2">
            <a:extLst>
              <a:ext uri="{FF2B5EF4-FFF2-40B4-BE49-F238E27FC236}">
                <a16:creationId xmlns:a16="http://schemas.microsoft.com/office/drawing/2014/main" id="{9E7EBAD6-F659-D226-CBC9-8AC45FEA3FD8}"/>
              </a:ext>
            </a:extLst>
          </p:cNvPr>
          <p:cNvSpPr>
            <a:spLocks noGrp="1"/>
          </p:cNvSpPr>
          <p:nvPr>
            <p:ph idx="1"/>
          </p:nvPr>
        </p:nvSpPr>
        <p:spPr/>
        <p:txBody>
          <a:bodyPr>
            <a:normAutofit/>
          </a:bodyPr>
          <a:lstStyle/>
          <a:p>
            <a:pPr marL="342900" indent="-342900">
              <a:buFont typeface="Wingdings" pitchFamily="2" charset="2"/>
              <a:buChar char="v"/>
            </a:pPr>
            <a:r>
              <a:rPr lang="vi-VN"/>
              <a:t>Cảm xúc khuôn mặt đóng vai trò quan trọng trong giao tiếp con người (Mehrabian, 1968)</a:t>
            </a:r>
            <a:endParaRPr lang="en-US"/>
          </a:p>
          <a:p>
            <a:pPr marL="800100" lvl="1" indent="-342900">
              <a:buFont typeface="Wingdings" pitchFamily="2" charset="2"/>
              <a:buChar char="v"/>
            </a:pPr>
            <a:r>
              <a:rPr lang="en-US"/>
              <a:t>55% thông tin từ biểu cảm khuôn mặt.</a:t>
            </a:r>
          </a:p>
          <a:p>
            <a:pPr marL="800100" lvl="1" indent="-342900">
              <a:buFont typeface="Wingdings" pitchFamily="2" charset="2"/>
              <a:buChar char="v"/>
            </a:pPr>
            <a:r>
              <a:rPr lang="en-US"/>
              <a:t>38% từ giọng nói, 7% từ ngôn từ.</a:t>
            </a:r>
          </a:p>
          <a:p>
            <a:pPr marL="342900" indent="-342900">
              <a:buFont typeface="Wingdings" pitchFamily="2" charset="2"/>
              <a:buChar char="v"/>
            </a:pPr>
            <a:r>
              <a:rPr lang="en-VN"/>
              <a:t>Ứng dụng thực tiễn:</a:t>
            </a:r>
            <a:endParaRPr lang="en-US"/>
          </a:p>
          <a:p>
            <a:pPr marL="800100" lvl="1" indent="-342900">
              <a:buFont typeface="Arial" panose="020B0604020202020204" pitchFamily="34" charset="0"/>
              <a:buChar char="•"/>
            </a:pPr>
            <a:r>
              <a:rPr lang="vi-VN"/>
              <a:t>Phân tích tâm lý: hiểu hành vi, cảm xúc người dùng.</a:t>
            </a:r>
            <a:endParaRPr lang="en-US"/>
          </a:p>
          <a:p>
            <a:pPr marL="800100" lvl="1" indent="-342900">
              <a:buFont typeface="Arial" panose="020B0604020202020204" pitchFamily="34" charset="0"/>
              <a:buChar char="•"/>
            </a:pPr>
            <a:r>
              <a:rPr lang="vi-VN"/>
              <a:t>Quảng cáo thông minh: tối ưu chiến dịch dựa trên phản ứng khách hàng.</a:t>
            </a:r>
            <a:endParaRPr lang="en-US"/>
          </a:p>
          <a:p>
            <a:pPr marL="800100" lvl="1" indent="-342900">
              <a:buFont typeface="Arial" panose="020B0604020202020204" pitchFamily="34" charset="0"/>
              <a:buChar char="•"/>
            </a:pPr>
            <a:r>
              <a:rPr lang="vi-VN"/>
              <a:t>Y tế: hỗ trợ chẩn đoán rối loạn tâm lý (trầm cảm, tự kỷ).</a:t>
            </a:r>
            <a:endParaRPr lang="en-VN"/>
          </a:p>
        </p:txBody>
      </p:sp>
    </p:spTree>
    <p:extLst>
      <p:ext uri="{BB962C8B-B14F-4D97-AF65-F5344CB8AC3E}">
        <p14:creationId xmlns:p14="http://schemas.microsoft.com/office/powerpoint/2010/main" val="3904543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585E6-7B5F-4438-BDDE-781ED5517FBB}"/>
              </a:ext>
            </a:extLst>
          </p:cNvPr>
          <p:cNvSpPr>
            <a:spLocks noGrp="1"/>
          </p:cNvSpPr>
          <p:nvPr>
            <p:ph type="title"/>
          </p:nvPr>
        </p:nvSpPr>
        <p:spPr/>
        <p:txBody>
          <a:bodyPr/>
          <a:lstStyle/>
          <a:p>
            <a:r>
              <a:rPr lang="en-VN" dirty="0"/>
              <a:t>1. Đặt </a:t>
            </a:r>
            <a:r>
              <a:rPr lang="en-VN"/>
              <a:t>vấn đề</a:t>
            </a:r>
            <a:r>
              <a:rPr lang="en-US"/>
              <a:t> </a:t>
            </a:r>
            <a:endParaRPr lang="en-VN" dirty="0"/>
          </a:p>
        </p:txBody>
      </p:sp>
      <p:sp>
        <p:nvSpPr>
          <p:cNvPr id="3" name="Content Placeholder 2">
            <a:extLst>
              <a:ext uri="{FF2B5EF4-FFF2-40B4-BE49-F238E27FC236}">
                <a16:creationId xmlns:a16="http://schemas.microsoft.com/office/drawing/2014/main" id="{DBD32DB8-E34A-2A1B-4608-5B400F759155}"/>
              </a:ext>
            </a:extLst>
          </p:cNvPr>
          <p:cNvSpPr>
            <a:spLocks noGrp="1"/>
          </p:cNvSpPr>
          <p:nvPr>
            <p:ph idx="1"/>
          </p:nvPr>
        </p:nvSpPr>
        <p:spPr>
          <a:xfrm>
            <a:off x="838200" y="1825625"/>
            <a:ext cx="6001139" cy="4351338"/>
          </a:xfrm>
        </p:spPr>
        <p:txBody>
          <a:bodyPr>
            <a:normAutofit/>
          </a:bodyPr>
          <a:lstStyle/>
          <a:p>
            <a:pPr marL="342900" indent="-342900">
              <a:buFont typeface="Wingdings" pitchFamily="2" charset="2"/>
              <a:buChar char="Ø"/>
            </a:pPr>
            <a:r>
              <a:rPr lang="en-VN"/>
              <a:t>Thách thức:</a:t>
            </a:r>
            <a:endParaRPr lang="en-VN" dirty="0"/>
          </a:p>
          <a:p>
            <a:pPr marL="342900" indent="-342900">
              <a:buFont typeface="Arial" panose="020B0604020202020204" pitchFamily="34" charset="0"/>
              <a:buChar char="•"/>
            </a:pPr>
            <a:r>
              <a:rPr lang="vi-VN"/>
              <a:t>Đa dạng biểu cảm: phụ thuộc văn hóa, ngữ cảnh, cá nhân.</a:t>
            </a:r>
            <a:endParaRPr lang="en-US"/>
          </a:p>
          <a:p>
            <a:pPr marL="342900" indent="-342900">
              <a:buFont typeface="Arial" panose="020B0604020202020204" pitchFamily="34" charset="0"/>
              <a:buChar char="•"/>
            </a:pPr>
            <a:r>
              <a:rPr lang="vi-VN"/>
              <a:t>Điều kiện thực tế: ánh sáng, góc quay, nhiễu ảnh hưởng đến độ chính xác.</a:t>
            </a:r>
            <a:endParaRPr lang="en-US"/>
          </a:p>
          <a:p>
            <a:pPr marL="342900" indent="-342900">
              <a:buFont typeface="Arial" panose="020B0604020202020204" pitchFamily="34" charset="0"/>
              <a:buChar char="•"/>
            </a:pPr>
            <a:r>
              <a:rPr lang="vi-VN"/>
              <a:t>Phương pháp thủ công (Gabor, NMF): hạn chế về tốc độ và tự động hóa.</a:t>
            </a:r>
            <a:endParaRPr lang="en-VN" sz="2000" dirty="0"/>
          </a:p>
          <a:p>
            <a:pPr marL="342900" indent="-342900">
              <a:buFont typeface="Wingdings" pitchFamily="2" charset="2"/>
              <a:buChar char="v"/>
            </a:pPr>
            <a:endParaRPr lang="en-VN" sz="2000" dirty="0"/>
          </a:p>
          <a:p>
            <a:pPr marL="342900" indent="-342900">
              <a:buFont typeface="Wingdings" pitchFamily="2" charset="2"/>
              <a:buChar char="v"/>
            </a:pPr>
            <a:endParaRPr lang="en-VN" sz="2000" dirty="0"/>
          </a:p>
        </p:txBody>
      </p:sp>
      <p:pic>
        <p:nvPicPr>
          <p:cNvPr id="5" name="Picture 4">
            <a:extLst>
              <a:ext uri="{FF2B5EF4-FFF2-40B4-BE49-F238E27FC236}">
                <a16:creationId xmlns:a16="http://schemas.microsoft.com/office/drawing/2014/main" id="{47338476-7FF5-7308-BEE1-C7451D51D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6869" y="2127378"/>
            <a:ext cx="3397897" cy="3397897"/>
          </a:xfrm>
          <a:prstGeom prst="rect">
            <a:avLst/>
          </a:prstGeom>
        </p:spPr>
      </p:pic>
    </p:spTree>
    <p:extLst>
      <p:ext uri="{BB962C8B-B14F-4D97-AF65-F5344CB8AC3E}">
        <p14:creationId xmlns:p14="http://schemas.microsoft.com/office/powerpoint/2010/main" val="153212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D0CB5-04F0-2B16-8E5E-A0DD86C0FDFC}"/>
              </a:ext>
            </a:extLst>
          </p:cNvPr>
          <p:cNvSpPr>
            <a:spLocks noGrp="1"/>
          </p:cNvSpPr>
          <p:nvPr>
            <p:ph type="title"/>
          </p:nvPr>
        </p:nvSpPr>
        <p:spPr/>
        <p:txBody>
          <a:bodyPr/>
          <a:lstStyle/>
          <a:p>
            <a:r>
              <a:rPr lang="en-VN"/>
              <a:t>1. Đặt vấn đề</a:t>
            </a:r>
            <a:endParaRPr lang="en-US"/>
          </a:p>
        </p:txBody>
      </p:sp>
      <p:sp>
        <p:nvSpPr>
          <p:cNvPr id="3" name="Content Placeholder 2">
            <a:extLst>
              <a:ext uri="{FF2B5EF4-FFF2-40B4-BE49-F238E27FC236}">
                <a16:creationId xmlns:a16="http://schemas.microsoft.com/office/drawing/2014/main" id="{7E24BDD1-F527-F956-0351-EC5793A6AC23}"/>
              </a:ext>
            </a:extLst>
          </p:cNvPr>
          <p:cNvSpPr>
            <a:spLocks noGrp="1"/>
          </p:cNvSpPr>
          <p:nvPr>
            <p:ph idx="1"/>
          </p:nvPr>
        </p:nvSpPr>
        <p:spPr/>
        <p:txBody>
          <a:bodyPr/>
          <a:lstStyle/>
          <a:p>
            <a:pPr marL="342900" indent="-342900">
              <a:buFont typeface="Wingdings" panose="05000000000000000000" pitchFamily="2" charset="2"/>
              <a:buChar char="v"/>
            </a:pPr>
            <a:r>
              <a:rPr lang="en-US"/>
              <a:t>Mục tiêu nghiên cứu</a:t>
            </a:r>
          </a:p>
          <a:p>
            <a:pPr marL="800100" lvl="1" indent="-342900">
              <a:buFont typeface="Arial" panose="020B0604020202020204" pitchFamily="34" charset="0"/>
              <a:buChar char="•"/>
            </a:pPr>
            <a:r>
              <a:rPr lang="en-US"/>
              <a:t>Đánh giá hiệu suất các mô hình học sâu (EfficientNet, ResNet, DenseNet, MobileNet).</a:t>
            </a:r>
          </a:p>
          <a:p>
            <a:pPr marL="800100" lvl="1" indent="-342900">
              <a:buFont typeface="Arial" panose="020B0604020202020204" pitchFamily="34" charset="0"/>
              <a:buChar char="•"/>
            </a:pPr>
            <a:r>
              <a:rPr lang="en-US"/>
              <a:t>Xây dựng ứng dụng web phân tích cảm xúc từ ảnh và video.</a:t>
            </a:r>
          </a:p>
          <a:p>
            <a:pPr marL="800100" lvl="1" indent="-342900">
              <a:buFont typeface="Arial" panose="020B0604020202020204" pitchFamily="34" charset="0"/>
              <a:buChar char="•"/>
            </a:pPr>
            <a:endParaRPr lang="en-US"/>
          </a:p>
        </p:txBody>
      </p:sp>
    </p:spTree>
    <p:extLst>
      <p:ext uri="{BB962C8B-B14F-4D97-AF65-F5344CB8AC3E}">
        <p14:creationId xmlns:p14="http://schemas.microsoft.com/office/powerpoint/2010/main" val="1382565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FB41-A906-EF05-C23A-BFD934934E44}"/>
              </a:ext>
            </a:extLst>
          </p:cNvPr>
          <p:cNvSpPr>
            <a:spLocks noGrp="1"/>
          </p:cNvSpPr>
          <p:nvPr>
            <p:ph type="title"/>
          </p:nvPr>
        </p:nvSpPr>
        <p:spPr/>
        <p:txBody>
          <a:bodyPr/>
          <a:lstStyle/>
          <a:p>
            <a:r>
              <a:rPr lang="en-VN" dirty="0"/>
              <a:t>2. Nội dung nghiên cứu</a:t>
            </a:r>
          </a:p>
        </p:txBody>
      </p:sp>
      <p:sp>
        <p:nvSpPr>
          <p:cNvPr id="3" name="Content Placeholder 2">
            <a:extLst>
              <a:ext uri="{FF2B5EF4-FFF2-40B4-BE49-F238E27FC236}">
                <a16:creationId xmlns:a16="http://schemas.microsoft.com/office/drawing/2014/main" id="{DDBE9BD8-3616-C3E3-757F-B0A1B6E385EF}"/>
              </a:ext>
            </a:extLst>
          </p:cNvPr>
          <p:cNvSpPr>
            <a:spLocks noGrp="1"/>
          </p:cNvSpPr>
          <p:nvPr>
            <p:ph idx="1"/>
          </p:nvPr>
        </p:nvSpPr>
        <p:spPr/>
        <p:txBody>
          <a:bodyPr/>
          <a:lstStyle/>
          <a:p>
            <a:pPr marL="342900" indent="-342900">
              <a:buFont typeface="Wingdings" pitchFamily="2" charset="2"/>
              <a:buChar char="Ø"/>
            </a:pPr>
            <a:r>
              <a:rPr lang="en-US"/>
              <a:t>Phạm vi:</a:t>
            </a:r>
          </a:p>
          <a:p>
            <a:pPr marL="800100" lvl="1" indent="-342900">
              <a:buFont typeface="Arial" panose="020B0604020202020204" pitchFamily="34" charset="0"/>
              <a:buChar char="•"/>
            </a:pPr>
            <a:r>
              <a:rPr lang="en-US"/>
              <a:t>Tập dữ liệu: RAF-DB (15.339 ảnh), FER-2013 (35.887 ảnh), CK+ (10.708 ảnh).</a:t>
            </a:r>
          </a:p>
          <a:p>
            <a:pPr marL="800100" lvl="1" indent="-342900">
              <a:buFont typeface="Arial" panose="020B0604020202020204" pitchFamily="34" charset="0"/>
              <a:buChar char="•"/>
            </a:pPr>
            <a:r>
              <a:rPr lang="en-US"/>
              <a:t>7 cảm xúc: vui, buồn, tức giận, ngạc nhiên, sợ hãi, ghê sợ, trung tính.</a:t>
            </a:r>
            <a:endParaRPr lang="en-VN" dirty="0"/>
          </a:p>
          <a:p>
            <a:pPr marL="342900" indent="-342900">
              <a:buFont typeface="Wingdings" pitchFamily="2" charset="2"/>
              <a:buChar char="Ø"/>
            </a:pPr>
            <a:r>
              <a:rPr lang="en-VN"/>
              <a:t>Mô hình: EfficientNet, ResNet, DenseNet, MobileNet (12 kiến trúc).</a:t>
            </a:r>
            <a:endParaRPr lang="en-US"/>
          </a:p>
          <a:p>
            <a:pPr marL="342900" indent="-342900">
              <a:buFont typeface="Wingdings" pitchFamily="2" charset="2"/>
              <a:buChar char="Ø"/>
            </a:pPr>
            <a:r>
              <a:rPr lang="en-US"/>
              <a:t>Ứng dụng: Web phân tích ảnh tĩnh và video thời gian thực.</a:t>
            </a:r>
          </a:p>
        </p:txBody>
      </p:sp>
    </p:spTree>
    <p:extLst>
      <p:ext uri="{BB962C8B-B14F-4D97-AF65-F5344CB8AC3E}">
        <p14:creationId xmlns:p14="http://schemas.microsoft.com/office/powerpoint/2010/main" val="1984394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E50E-F58D-31AB-B69F-503440E0655F}"/>
              </a:ext>
            </a:extLst>
          </p:cNvPr>
          <p:cNvSpPr>
            <a:spLocks noGrp="1"/>
          </p:cNvSpPr>
          <p:nvPr>
            <p:ph type="title"/>
          </p:nvPr>
        </p:nvSpPr>
        <p:spPr>
          <a:xfrm>
            <a:off x="838200" y="365125"/>
            <a:ext cx="10515600" cy="1325563"/>
          </a:xfrm>
        </p:spPr>
        <p:txBody>
          <a:bodyPr anchor="ctr">
            <a:normAutofit/>
          </a:bodyPr>
          <a:lstStyle/>
          <a:p>
            <a:r>
              <a:rPr lang="en-VN" dirty="0"/>
              <a:t>3. Phương pháp thực nghiệm</a:t>
            </a:r>
          </a:p>
        </p:txBody>
      </p:sp>
      <p:sp>
        <p:nvSpPr>
          <p:cNvPr id="3" name="Content Placeholder 2">
            <a:extLst>
              <a:ext uri="{FF2B5EF4-FFF2-40B4-BE49-F238E27FC236}">
                <a16:creationId xmlns:a16="http://schemas.microsoft.com/office/drawing/2014/main" id="{17CDE5D9-2E8C-56F1-CE17-1AA85F510FDC}"/>
              </a:ext>
            </a:extLst>
          </p:cNvPr>
          <p:cNvSpPr>
            <a:spLocks noGrp="1"/>
          </p:cNvSpPr>
          <p:nvPr>
            <p:ph idx="1"/>
          </p:nvPr>
        </p:nvSpPr>
        <p:spPr>
          <a:xfrm>
            <a:off x="838199" y="1825625"/>
            <a:ext cx="8837645" cy="2522440"/>
          </a:xfrm>
        </p:spPr>
        <p:txBody>
          <a:bodyPr>
            <a:normAutofit/>
          </a:bodyPr>
          <a:lstStyle/>
          <a:p>
            <a:r>
              <a:rPr lang="en-VN"/>
              <a:t>3.1 Thu thập dữ liệu </a:t>
            </a:r>
          </a:p>
          <a:p>
            <a:r>
              <a:rPr lang="en-US" err="1"/>
              <a:t>Bộ</a:t>
            </a:r>
            <a:r>
              <a:rPr lang="en-US"/>
              <a:t> </a:t>
            </a:r>
            <a:r>
              <a:rPr lang="en-US" err="1"/>
              <a:t>dữ</a:t>
            </a:r>
            <a:r>
              <a:rPr lang="en-US"/>
              <a:t> liệu RAF-DB, FER2013, CK+ được thu thập từ Kaggle.</a:t>
            </a:r>
          </a:p>
          <a:p>
            <a:pPr marL="342900" indent="-342900">
              <a:buFont typeface="Wingdings" panose="05000000000000000000" pitchFamily="2" charset="2"/>
              <a:buChar char="v"/>
            </a:pPr>
            <a:r>
              <a:rPr lang="en-US"/>
              <a:t>Tập RAF-DB gồm </a:t>
            </a:r>
            <a:r>
              <a:rPr lang="vi-VN"/>
              <a:t>15.339 ảnh đơn nhãn, 7 cảm xúc cơ bản</a:t>
            </a:r>
          </a:p>
          <a:p>
            <a:endParaRPr lang="en-US"/>
          </a:p>
          <a:p>
            <a:pPr lvl="1"/>
            <a:endParaRPr lang="en-VN"/>
          </a:p>
          <a:p>
            <a:pPr marL="342900" indent="-342900">
              <a:buFont typeface="Wingdings" pitchFamily="2" charset="2"/>
              <a:buChar char="v"/>
            </a:pPr>
            <a:endParaRPr lang="en-VN" dirty="0"/>
          </a:p>
        </p:txBody>
      </p:sp>
      <p:pic>
        <p:nvPicPr>
          <p:cNvPr id="7" name="Picture 6" descr="A collage of a person's face&#10;&#10;AI-generated content may be incorrect.">
            <a:extLst>
              <a:ext uri="{FF2B5EF4-FFF2-40B4-BE49-F238E27FC236}">
                <a16:creationId xmlns:a16="http://schemas.microsoft.com/office/drawing/2014/main" id="{B8B050D9-562E-F0CA-C665-34919F6A5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837" y="3536302"/>
            <a:ext cx="10123710" cy="20247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83684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B4FFA-5109-84DA-D199-E8D7912D4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1A3C0-F1FC-2BE6-5D4E-1156EE476191}"/>
              </a:ext>
            </a:extLst>
          </p:cNvPr>
          <p:cNvSpPr>
            <a:spLocks noGrp="1"/>
          </p:cNvSpPr>
          <p:nvPr>
            <p:ph type="title"/>
          </p:nvPr>
        </p:nvSpPr>
        <p:spPr>
          <a:xfrm>
            <a:off x="838200" y="365125"/>
            <a:ext cx="10515600" cy="1325563"/>
          </a:xfrm>
        </p:spPr>
        <p:txBody>
          <a:bodyPr anchor="ctr">
            <a:normAutofit/>
          </a:bodyPr>
          <a:lstStyle/>
          <a:p>
            <a:r>
              <a:rPr lang="en-VN" dirty="0"/>
              <a:t>3. Phương pháp thực nghiệm</a:t>
            </a:r>
          </a:p>
        </p:txBody>
      </p:sp>
      <p:sp>
        <p:nvSpPr>
          <p:cNvPr id="3" name="Content Placeholder 2">
            <a:extLst>
              <a:ext uri="{FF2B5EF4-FFF2-40B4-BE49-F238E27FC236}">
                <a16:creationId xmlns:a16="http://schemas.microsoft.com/office/drawing/2014/main" id="{BFBBEB76-C003-91FA-628B-25EBF6ABEB5E}"/>
              </a:ext>
            </a:extLst>
          </p:cNvPr>
          <p:cNvSpPr>
            <a:spLocks noGrp="1"/>
          </p:cNvSpPr>
          <p:nvPr>
            <p:ph idx="1"/>
          </p:nvPr>
        </p:nvSpPr>
        <p:spPr>
          <a:xfrm>
            <a:off x="838199" y="1825625"/>
            <a:ext cx="8837645" cy="2522440"/>
          </a:xfrm>
        </p:spPr>
        <p:txBody>
          <a:bodyPr>
            <a:normAutofit/>
          </a:bodyPr>
          <a:lstStyle/>
          <a:p>
            <a:r>
              <a:rPr lang="en-VN"/>
              <a:t>3.1 Thu thập dữ liệu </a:t>
            </a:r>
          </a:p>
          <a:p>
            <a:r>
              <a:rPr lang="en-US" err="1"/>
              <a:t>Bộ</a:t>
            </a:r>
            <a:r>
              <a:rPr lang="en-US"/>
              <a:t> </a:t>
            </a:r>
            <a:r>
              <a:rPr lang="en-US" err="1"/>
              <a:t>dữ</a:t>
            </a:r>
            <a:r>
              <a:rPr lang="en-US"/>
              <a:t> liệu RAF-DB, FER2013, CK+ được thu thập từ Kaggle.</a:t>
            </a:r>
          </a:p>
          <a:p>
            <a:pPr marL="342900" indent="-342900">
              <a:buFont typeface="Wingdings" panose="05000000000000000000" pitchFamily="2" charset="2"/>
              <a:buChar char="v"/>
            </a:pPr>
            <a:r>
              <a:rPr lang="en-US"/>
              <a:t>Tập FER-2013: 35.887 ảnh, 7 cảm xúc</a:t>
            </a:r>
            <a:endParaRPr lang="vi-VN"/>
          </a:p>
          <a:p>
            <a:endParaRPr lang="en-US"/>
          </a:p>
          <a:p>
            <a:pPr lvl="1"/>
            <a:endParaRPr lang="en-VN"/>
          </a:p>
          <a:p>
            <a:pPr marL="342900" indent="-342900">
              <a:buFont typeface="Wingdings" pitchFamily="2" charset="2"/>
              <a:buChar char="v"/>
            </a:pPr>
            <a:endParaRPr lang="en-VN" dirty="0"/>
          </a:p>
        </p:txBody>
      </p:sp>
      <p:pic>
        <p:nvPicPr>
          <p:cNvPr id="5" name="Picture 4" descr="A collage of a baby&#10;&#10;AI-generated content may be incorrect.">
            <a:extLst>
              <a:ext uri="{FF2B5EF4-FFF2-40B4-BE49-F238E27FC236}">
                <a16:creationId xmlns:a16="http://schemas.microsoft.com/office/drawing/2014/main" id="{2D9D5767-CB00-BE86-E2F5-3234F489A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110" y="3541924"/>
            <a:ext cx="10122408" cy="2024482"/>
          </a:xfrm>
          <a:prstGeom prst="rect">
            <a:avLst/>
          </a:prstGeom>
        </p:spPr>
      </p:pic>
    </p:spTree>
    <p:extLst>
      <p:ext uri="{BB962C8B-B14F-4D97-AF65-F5344CB8AC3E}">
        <p14:creationId xmlns:p14="http://schemas.microsoft.com/office/powerpoint/2010/main" val="3465915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0E01A-55E7-C3B4-D281-9F10A708D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EC1D7-461E-7236-29B3-2F9540CB2F7C}"/>
              </a:ext>
            </a:extLst>
          </p:cNvPr>
          <p:cNvSpPr>
            <a:spLocks noGrp="1"/>
          </p:cNvSpPr>
          <p:nvPr>
            <p:ph type="title"/>
          </p:nvPr>
        </p:nvSpPr>
        <p:spPr>
          <a:xfrm>
            <a:off x="838200" y="365125"/>
            <a:ext cx="10515600" cy="1325563"/>
          </a:xfrm>
        </p:spPr>
        <p:txBody>
          <a:bodyPr anchor="ctr">
            <a:normAutofit/>
          </a:bodyPr>
          <a:lstStyle/>
          <a:p>
            <a:r>
              <a:rPr lang="en-VN" dirty="0"/>
              <a:t>3. Phương pháp thực nghiệm</a:t>
            </a:r>
          </a:p>
        </p:txBody>
      </p:sp>
      <p:sp>
        <p:nvSpPr>
          <p:cNvPr id="3" name="Content Placeholder 2">
            <a:extLst>
              <a:ext uri="{FF2B5EF4-FFF2-40B4-BE49-F238E27FC236}">
                <a16:creationId xmlns:a16="http://schemas.microsoft.com/office/drawing/2014/main" id="{D0AE136E-C023-C542-5915-7C67AD552D3A}"/>
              </a:ext>
            </a:extLst>
          </p:cNvPr>
          <p:cNvSpPr>
            <a:spLocks noGrp="1"/>
          </p:cNvSpPr>
          <p:nvPr>
            <p:ph idx="1"/>
          </p:nvPr>
        </p:nvSpPr>
        <p:spPr>
          <a:xfrm>
            <a:off x="838199" y="1690688"/>
            <a:ext cx="8837645" cy="2522440"/>
          </a:xfrm>
        </p:spPr>
        <p:txBody>
          <a:bodyPr>
            <a:normAutofit/>
          </a:bodyPr>
          <a:lstStyle/>
          <a:p>
            <a:r>
              <a:rPr lang="en-VN"/>
              <a:t>3.1 Thu thập dữ liệu </a:t>
            </a:r>
          </a:p>
          <a:p>
            <a:r>
              <a:rPr lang="en-US" err="1"/>
              <a:t>Bộ</a:t>
            </a:r>
            <a:r>
              <a:rPr lang="en-US"/>
              <a:t> </a:t>
            </a:r>
            <a:r>
              <a:rPr lang="en-US" err="1"/>
              <a:t>dữ</a:t>
            </a:r>
            <a:r>
              <a:rPr lang="en-US"/>
              <a:t> liệu RAF-DB, FER2013, CK+ được thu thập từ Kaggle.</a:t>
            </a:r>
          </a:p>
          <a:p>
            <a:pPr marL="342900" indent="-342900">
              <a:buFont typeface="Wingdings" panose="05000000000000000000" pitchFamily="2" charset="2"/>
              <a:buChar char="v"/>
            </a:pPr>
            <a:r>
              <a:rPr lang="en-US"/>
              <a:t>CK+: 10.708 ảnh tĩnh từ 327 chuỗi video, 7 cảm xúc</a:t>
            </a:r>
          </a:p>
          <a:p>
            <a:pPr marL="342900" indent="-342900">
              <a:buFont typeface="Wingdings" panose="05000000000000000000" pitchFamily="2" charset="2"/>
              <a:buChar char="v"/>
            </a:pPr>
            <a:endParaRPr lang="en-US"/>
          </a:p>
          <a:p>
            <a:pPr lvl="1"/>
            <a:endParaRPr lang="en-VN"/>
          </a:p>
          <a:p>
            <a:pPr marL="342900" indent="-342900">
              <a:buFont typeface="Wingdings" pitchFamily="2" charset="2"/>
              <a:buChar char="v"/>
            </a:pPr>
            <a:endParaRPr lang="en-VN" dirty="0"/>
          </a:p>
        </p:txBody>
      </p:sp>
      <p:pic>
        <p:nvPicPr>
          <p:cNvPr id="6" name="Picture 5" descr="A collage of women's faces&#10;&#10;AI-generated content may be incorrect.">
            <a:extLst>
              <a:ext uri="{FF2B5EF4-FFF2-40B4-BE49-F238E27FC236}">
                <a16:creationId xmlns:a16="http://schemas.microsoft.com/office/drawing/2014/main" id="{971F36C8-6925-C2B1-1061-408A0F352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3429000"/>
            <a:ext cx="10113264" cy="2022653"/>
          </a:xfrm>
          <a:prstGeom prst="rect">
            <a:avLst/>
          </a:prstGeom>
        </p:spPr>
      </p:pic>
    </p:spTree>
    <p:extLst>
      <p:ext uri="{BB962C8B-B14F-4D97-AF65-F5344CB8AC3E}">
        <p14:creationId xmlns:p14="http://schemas.microsoft.com/office/powerpoint/2010/main" val="1810225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46046-630A-6011-CC9E-B1BE733B18EF}"/>
            </a:ext>
          </a:extLst>
        </p:cNvPr>
        <p:cNvGrpSpPr/>
        <p:nvPr/>
      </p:nvGrpSpPr>
      <p:grpSpPr>
        <a:xfrm>
          <a:off x="0" y="0"/>
          <a:ext cx="0" cy="0"/>
          <a:chOff x="0" y="0"/>
          <a:chExt cx="0" cy="0"/>
        </a:xfrm>
      </p:grpSpPr>
      <p:pic>
        <p:nvPicPr>
          <p:cNvPr id="5" name="Picture 4" descr="A graph of blue and orange bars&#10;&#10;AI-generated content may be incorrect.">
            <a:extLst>
              <a:ext uri="{FF2B5EF4-FFF2-40B4-BE49-F238E27FC236}">
                <a16:creationId xmlns:a16="http://schemas.microsoft.com/office/drawing/2014/main" id="{934E8853-B0C9-93E2-C06A-5307608B7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0" y="1773350"/>
            <a:ext cx="7895255" cy="3947628"/>
          </a:xfrm>
          <a:prstGeom prst="rect">
            <a:avLst/>
          </a:prstGeom>
        </p:spPr>
      </p:pic>
      <p:sp>
        <p:nvSpPr>
          <p:cNvPr id="2" name="Title 1">
            <a:extLst>
              <a:ext uri="{FF2B5EF4-FFF2-40B4-BE49-F238E27FC236}">
                <a16:creationId xmlns:a16="http://schemas.microsoft.com/office/drawing/2014/main" id="{6FEE4785-A7FB-97B6-74CA-BEACF4668D43}"/>
              </a:ext>
            </a:extLst>
          </p:cNvPr>
          <p:cNvSpPr>
            <a:spLocks noGrp="1"/>
          </p:cNvSpPr>
          <p:nvPr>
            <p:ph type="title"/>
          </p:nvPr>
        </p:nvSpPr>
        <p:spPr>
          <a:xfrm>
            <a:off x="838200" y="365125"/>
            <a:ext cx="10515600" cy="1325563"/>
          </a:xfrm>
        </p:spPr>
        <p:txBody>
          <a:bodyPr anchor="ctr">
            <a:normAutofit/>
          </a:bodyPr>
          <a:lstStyle/>
          <a:p>
            <a:r>
              <a:rPr lang="en-VN" dirty="0"/>
              <a:t>3. Phương pháp thực nghiệm</a:t>
            </a:r>
          </a:p>
        </p:txBody>
      </p:sp>
      <p:sp>
        <p:nvSpPr>
          <p:cNvPr id="3" name="Content Placeholder 2">
            <a:extLst>
              <a:ext uri="{FF2B5EF4-FFF2-40B4-BE49-F238E27FC236}">
                <a16:creationId xmlns:a16="http://schemas.microsoft.com/office/drawing/2014/main" id="{DBB86410-6494-1A96-4A40-945D14D2F289}"/>
              </a:ext>
            </a:extLst>
          </p:cNvPr>
          <p:cNvSpPr>
            <a:spLocks noGrp="1"/>
          </p:cNvSpPr>
          <p:nvPr>
            <p:ph idx="1"/>
          </p:nvPr>
        </p:nvSpPr>
        <p:spPr>
          <a:xfrm>
            <a:off x="838199" y="1690687"/>
            <a:ext cx="3276601" cy="4112954"/>
          </a:xfrm>
        </p:spPr>
        <p:txBody>
          <a:bodyPr>
            <a:normAutofit/>
          </a:bodyPr>
          <a:lstStyle/>
          <a:p>
            <a:r>
              <a:rPr lang="en-VN"/>
              <a:t>3.1 Thu thập dữ liệu </a:t>
            </a:r>
          </a:p>
          <a:p>
            <a:pPr marL="342900" indent="-342900">
              <a:buFont typeface="Wingdings" panose="05000000000000000000" pitchFamily="2" charset="2"/>
              <a:buChar char="v"/>
            </a:pPr>
            <a:r>
              <a:rPr lang="en-US"/>
              <a:t>Biểu đồ phân phối các lớp của tập RAF-DB, FER2013, CK+ </a:t>
            </a:r>
          </a:p>
          <a:p>
            <a:pPr lvl="1"/>
            <a:endParaRPr lang="en-VN"/>
          </a:p>
          <a:p>
            <a:pPr marL="342900" indent="-342900">
              <a:buFont typeface="Wingdings" pitchFamily="2" charset="2"/>
              <a:buChar char="v"/>
            </a:pPr>
            <a:endParaRPr lang="en-VN" dirty="0"/>
          </a:p>
        </p:txBody>
      </p:sp>
    </p:spTree>
    <p:extLst>
      <p:ext uri="{BB962C8B-B14F-4D97-AF65-F5344CB8AC3E}">
        <p14:creationId xmlns:p14="http://schemas.microsoft.com/office/powerpoint/2010/main" val="2720830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1CCB-6AC7-F679-E6B5-CDB69C3E5C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71AB70-7D25-7532-CCC7-AAB9CB5D6C22}"/>
              </a:ext>
            </a:extLst>
          </p:cNvPr>
          <p:cNvSpPr>
            <a:spLocks noGrp="1"/>
          </p:cNvSpPr>
          <p:nvPr>
            <p:ph idx="1"/>
          </p:nvPr>
        </p:nvSpPr>
        <p:spPr/>
        <p:txBody>
          <a:bodyPr>
            <a:normAutofit/>
          </a:bodyPr>
          <a:lstStyle/>
          <a:p>
            <a:r>
              <a:rPr lang="en-VN" dirty="0"/>
              <a:t>3.2 Tiền xử lý dữ liệu </a:t>
            </a:r>
          </a:p>
          <a:p>
            <a:pPr marL="342900" indent="-342900">
              <a:lnSpc>
                <a:spcPct val="150000"/>
              </a:lnSpc>
              <a:buFont typeface="Arial" panose="020B0604020202020204" pitchFamily="34" charset="0"/>
              <a:buChar char="•"/>
            </a:pPr>
            <a:r>
              <a:rPr lang="en-US" sz="2000"/>
              <a:t>Thay </a:t>
            </a:r>
            <a:r>
              <a:rPr lang="en-US" sz="2000" dirty="0" err="1"/>
              <a:t>đổi</a:t>
            </a:r>
            <a:r>
              <a:rPr lang="en-US" sz="2000" dirty="0"/>
              <a:t> </a:t>
            </a:r>
            <a:r>
              <a:rPr lang="en-US" sz="2000" dirty="0" err="1"/>
              <a:t>độ</a:t>
            </a:r>
            <a:r>
              <a:rPr lang="en-US" sz="2000" dirty="0"/>
              <a:t> </a:t>
            </a:r>
            <a:r>
              <a:rPr lang="en-US" sz="2000" dirty="0" err="1"/>
              <a:t>phân</a:t>
            </a:r>
            <a:r>
              <a:rPr lang="en-US" sz="2000" dirty="0"/>
              <a:t> </a:t>
            </a:r>
            <a:r>
              <a:rPr lang="en-US" sz="2000" dirty="0" err="1"/>
              <a:t>giải</a:t>
            </a:r>
            <a:r>
              <a:rPr lang="en-US" sz="2000" dirty="0"/>
              <a:t> </a:t>
            </a:r>
            <a:r>
              <a:rPr lang="en-US" sz="2000" err="1"/>
              <a:t>về</a:t>
            </a:r>
            <a:r>
              <a:rPr lang="en-US" sz="2000"/>
              <a:t> 380x380.</a:t>
            </a:r>
          </a:p>
          <a:p>
            <a:pPr marL="342900" indent="-342900">
              <a:lnSpc>
                <a:spcPct val="150000"/>
              </a:lnSpc>
              <a:buFont typeface="Arial" panose="020B0604020202020204" pitchFamily="34" charset="0"/>
              <a:buChar char="•"/>
            </a:pPr>
            <a:r>
              <a:rPr lang="en-US" sz="2000"/>
              <a:t>Chuyển ảnh về thang đo xám </a:t>
            </a:r>
          </a:p>
          <a:p>
            <a:pPr marL="342900" indent="-342900">
              <a:lnSpc>
                <a:spcPct val="150000"/>
              </a:lnSpc>
              <a:buFont typeface="Arial" panose="020B0604020202020204" pitchFamily="34" charset="0"/>
              <a:buChar char="•"/>
            </a:pPr>
            <a:r>
              <a:rPr lang="en-US" sz="2000"/>
              <a:t>Xử lý mất cân bằng dữ liệu </a:t>
            </a:r>
            <a:endParaRPr lang="en-US" sz="2000" dirty="0"/>
          </a:p>
          <a:p>
            <a:pPr marL="342900" indent="-342900">
              <a:lnSpc>
                <a:spcPct val="150000"/>
              </a:lnSpc>
              <a:buFont typeface="Arial" panose="020B0604020202020204" pitchFamily="34" charset="0"/>
              <a:buChar char="•"/>
            </a:pPr>
            <a:r>
              <a:rPr lang="en-US" sz="2000"/>
              <a:t>Chuẩn hóa giá trị pixel dựa trên trung bình và độ lệch chuẩn ImageNet.</a:t>
            </a:r>
          </a:p>
          <a:p>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8633C27D-DCAC-8691-B1E0-E876D9702D88}"/>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5" name="Title 1">
            <a:extLst>
              <a:ext uri="{FF2B5EF4-FFF2-40B4-BE49-F238E27FC236}">
                <a16:creationId xmlns:a16="http://schemas.microsoft.com/office/drawing/2014/main" id="{30C36FA1-31E7-A0C7-D9A8-F66136323FA1}"/>
              </a:ext>
            </a:extLst>
          </p:cNvPr>
          <p:cNvSpPr txBox="1">
            <a:spLocks/>
          </p:cNvSpPr>
          <p:nvPr/>
        </p:nvSpPr>
        <p:spPr>
          <a:xfrm>
            <a:off x="838199" y="1593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3600" b="1" i="0" kern="1200" baseline="0" dirty="0" smtClean="0">
                <a:solidFill>
                  <a:srgbClr val="0070C0"/>
                </a:solidFill>
                <a:latin typeface="K2D" panose="00000500000000000000" pitchFamily="2" charset="-34"/>
                <a:ea typeface="+mj-ea"/>
                <a:cs typeface="+mj-cs"/>
              </a:defRPr>
            </a:lvl1pPr>
          </a:lstStyle>
          <a:p>
            <a:r>
              <a:rPr lang="en-VN" dirty="0"/>
              <a:t>3. Phương pháp thực nghiệm</a:t>
            </a:r>
          </a:p>
        </p:txBody>
      </p:sp>
    </p:spTree>
    <p:extLst>
      <p:ext uri="{BB962C8B-B14F-4D97-AF65-F5344CB8AC3E}">
        <p14:creationId xmlns:p14="http://schemas.microsoft.com/office/powerpoint/2010/main" val="234697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24AC-42A3-4803-DF46-5EFB59FD3C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FE638-C2A7-E5A6-4651-736398760818}"/>
              </a:ext>
            </a:extLst>
          </p:cNvPr>
          <p:cNvSpPr>
            <a:spLocks noGrp="1"/>
          </p:cNvSpPr>
          <p:nvPr>
            <p:ph idx="1"/>
          </p:nvPr>
        </p:nvSpPr>
        <p:spPr/>
        <p:txBody>
          <a:bodyPr>
            <a:normAutofit/>
          </a:bodyPr>
          <a:lstStyle/>
          <a:p>
            <a:r>
              <a:rPr lang="en-VN" dirty="0"/>
              <a:t>3.3 Các phương pháp tăng cường dữ liệu</a:t>
            </a:r>
          </a:p>
          <a:p>
            <a:pPr marL="342900" indent="-342900">
              <a:lnSpc>
                <a:spcPct val="200000"/>
              </a:lnSpc>
              <a:buFont typeface="Wingdings" pitchFamily="2" charset="2"/>
              <a:buChar char="v"/>
            </a:pPr>
            <a:r>
              <a:rPr lang="en-VN" sz="1800" dirty="0"/>
              <a:t>Các phương pháp được áp dụng như sau:</a:t>
            </a:r>
          </a:p>
          <a:p>
            <a:pPr marL="800100" lvl="1" indent="-342900">
              <a:buFont typeface="Arial" panose="020B0604020202020204" pitchFamily="34" charset="0"/>
              <a:buChar char="•"/>
            </a:pPr>
            <a:r>
              <a:rPr lang="en-VN" sz="1800"/>
              <a:t>Lật ngang (horizontal flip): 50%.</a:t>
            </a:r>
            <a:endParaRPr lang="en-US" sz="1800"/>
          </a:p>
          <a:p>
            <a:pPr marL="800100" lvl="1" indent="-342900">
              <a:buFont typeface="Arial" panose="020B0604020202020204" pitchFamily="34" charset="0"/>
              <a:buChar char="•"/>
            </a:pPr>
            <a:r>
              <a:rPr lang="en-VN" sz="1800"/>
              <a:t>Xoay góc (rotation):</a:t>
            </a:r>
            <a:r>
              <a:rPr lang="en-US" sz="1800"/>
              <a:t> 10%</a:t>
            </a:r>
          </a:p>
          <a:p>
            <a:pPr marL="800100" lvl="1" indent="-342900">
              <a:buFont typeface="Arial" panose="020B0604020202020204" pitchFamily="34" charset="0"/>
              <a:buChar char="•"/>
            </a:pPr>
            <a:r>
              <a:rPr lang="vi-VN" sz="1800"/>
              <a:t>Điều chỉnh màu sắc (color jitter): Độ sáng, độ tương phản, bão hòa ±0.2.</a:t>
            </a:r>
            <a:endParaRPr lang="en-US" sz="1800"/>
          </a:p>
          <a:p>
            <a:pPr marL="800100" lvl="1" indent="-342900">
              <a:buFont typeface="Arial" panose="020B0604020202020204" pitchFamily="34" charset="0"/>
              <a:buChar char="•"/>
            </a:pPr>
            <a:r>
              <a:rPr lang="vi-VN" sz="1800"/>
              <a:t>Cắt ngẫu nhiên (random crop): 90% kích thước gốc sau padding.</a:t>
            </a:r>
            <a:endParaRPr lang="en-US" sz="1800"/>
          </a:p>
          <a:p>
            <a:pPr marL="800100" lvl="1" indent="-342900">
              <a:buFont typeface="Arial" panose="020B0604020202020204" pitchFamily="34" charset="0"/>
              <a:buChar char="•"/>
            </a:pPr>
            <a:endParaRPr lang="en-VN" dirty="0"/>
          </a:p>
        </p:txBody>
      </p:sp>
      <p:sp>
        <p:nvSpPr>
          <p:cNvPr id="6" name="TextBox 5">
            <a:extLst>
              <a:ext uri="{FF2B5EF4-FFF2-40B4-BE49-F238E27FC236}">
                <a16:creationId xmlns:a16="http://schemas.microsoft.com/office/drawing/2014/main" id="{67A157AD-9179-774D-E5D7-BE263F88BC98}"/>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BD2A0787-6457-1B23-4EC4-AFE34241FF09}"/>
              </a:ext>
            </a:extLst>
          </p:cNvPr>
          <p:cNvSpPr>
            <a:spLocks noGrp="1"/>
          </p:cNvSpPr>
          <p:nvPr>
            <p:ph type="title"/>
          </p:nvPr>
        </p:nvSpPr>
        <p:spPr>
          <a:xfrm>
            <a:off x="838199" y="159305"/>
            <a:ext cx="10515600" cy="1325563"/>
          </a:xfrm>
        </p:spPr>
        <p:txBody>
          <a:bodyPr/>
          <a:lstStyle/>
          <a:p>
            <a:r>
              <a:rPr lang="en-VN" dirty="0"/>
              <a:t>3. Phương pháp thực nghiệm</a:t>
            </a:r>
          </a:p>
        </p:txBody>
      </p:sp>
    </p:spTree>
    <p:extLst>
      <p:ext uri="{BB962C8B-B14F-4D97-AF65-F5344CB8AC3E}">
        <p14:creationId xmlns:p14="http://schemas.microsoft.com/office/powerpoint/2010/main" val="3082154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FCA67-8478-BA0D-1F1D-49D62FA7EF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6E97A-E776-6AC6-93D9-202E614E99B6}"/>
              </a:ext>
            </a:extLst>
          </p:cNvPr>
          <p:cNvSpPr>
            <a:spLocks noGrp="1"/>
          </p:cNvSpPr>
          <p:nvPr>
            <p:ph idx="1"/>
          </p:nvPr>
        </p:nvSpPr>
        <p:spPr>
          <a:xfrm>
            <a:off x="838199" y="1395968"/>
            <a:ext cx="10515600" cy="4351338"/>
          </a:xfrm>
        </p:spPr>
        <p:txBody>
          <a:bodyPr>
            <a:normAutofit/>
          </a:bodyPr>
          <a:lstStyle/>
          <a:p>
            <a:r>
              <a:rPr lang="en-VN" dirty="0"/>
              <a:t>3.4 Kiến trúc mô </a:t>
            </a:r>
            <a:r>
              <a:rPr lang="en-VN"/>
              <a:t>hình </a:t>
            </a:r>
            <a:endParaRPr lang="en-US"/>
          </a:p>
          <a:p>
            <a:pPr marL="800100" lvl="1" indent="-342900">
              <a:lnSpc>
                <a:spcPct val="150000"/>
              </a:lnSpc>
              <a:buFont typeface="Wingdings" pitchFamily="2" charset="2"/>
              <a:buChar char="v"/>
            </a:pPr>
            <a:r>
              <a:rPr lang="en-VN"/>
              <a:t>ResNet50</a:t>
            </a:r>
            <a:endParaRPr lang="en-VN" dirty="0"/>
          </a:p>
          <a:p>
            <a:pPr marL="800100" lvl="1" indent="-342900">
              <a:lnSpc>
                <a:spcPct val="150000"/>
              </a:lnSpc>
              <a:buFont typeface="Wingdings" pitchFamily="2" charset="2"/>
              <a:buChar char="v"/>
            </a:pPr>
            <a:r>
              <a:rPr lang="en-US"/>
              <a:t>ResNet152</a:t>
            </a:r>
          </a:p>
          <a:p>
            <a:pPr marL="800100" lvl="1" indent="-342900">
              <a:lnSpc>
                <a:spcPct val="150000"/>
              </a:lnSpc>
              <a:buFont typeface="Wingdings" pitchFamily="2" charset="2"/>
              <a:buChar char="v"/>
            </a:pPr>
            <a:r>
              <a:rPr lang="en-US"/>
              <a:t>DenseNet121</a:t>
            </a:r>
          </a:p>
          <a:p>
            <a:pPr marL="800100" lvl="1" indent="-342900">
              <a:lnSpc>
                <a:spcPct val="150000"/>
              </a:lnSpc>
              <a:buFont typeface="Wingdings" pitchFamily="2" charset="2"/>
              <a:buChar char="v"/>
            </a:pPr>
            <a:r>
              <a:rPr lang="en-US"/>
              <a:t> DenseNet169</a:t>
            </a:r>
          </a:p>
          <a:p>
            <a:pPr marL="800100" lvl="1" indent="-342900">
              <a:lnSpc>
                <a:spcPct val="150000"/>
              </a:lnSpc>
              <a:buFont typeface="Wingdings" pitchFamily="2" charset="2"/>
              <a:buChar char="v"/>
            </a:pPr>
            <a:r>
              <a:rPr lang="en-US"/>
              <a:t>MobileNetV2-3</a:t>
            </a:r>
          </a:p>
          <a:p>
            <a:pPr marL="800100" lvl="1" indent="-342900">
              <a:lnSpc>
                <a:spcPct val="150000"/>
              </a:lnSpc>
              <a:buFont typeface="Wingdings" pitchFamily="2" charset="2"/>
              <a:buChar char="v"/>
            </a:pPr>
            <a:r>
              <a:rPr lang="en-US"/>
              <a:t>EfficientNetB0-B4</a:t>
            </a:r>
          </a:p>
          <a:p>
            <a:pPr marL="800100" lvl="1" indent="-342900">
              <a:lnSpc>
                <a:spcPct val="150000"/>
              </a:lnSpc>
              <a:buFont typeface="Wingdings" pitchFamily="2" charset="2"/>
              <a:buChar char="v"/>
            </a:pPr>
            <a:endParaRPr lang="en-US"/>
          </a:p>
          <a:p>
            <a:pPr marL="800100" lvl="1" indent="-342900">
              <a:lnSpc>
                <a:spcPct val="150000"/>
              </a:lnSpc>
              <a:buFont typeface="Wingdings" pitchFamily="2" charset="2"/>
              <a:buChar char="v"/>
            </a:pPr>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351CE7F7-FA4A-685B-250B-3794D62AA563}"/>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429DBEDF-F086-A20A-09A4-D6FBFA70E377}"/>
              </a:ext>
            </a:extLst>
          </p:cNvPr>
          <p:cNvSpPr>
            <a:spLocks noGrp="1"/>
          </p:cNvSpPr>
          <p:nvPr>
            <p:ph type="title"/>
          </p:nvPr>
        </p:nvSpPr>
        <p:spPr>
          <a:xfrm>
            <a:off x="838199" y="159305"/>
            <a:ext cx="10515600" cy="1325563"/>
          </a:xfrm>
        </p:spPr>
        <p:txBody>
          <a:bodyPr/>
          <a:lstStyle/>
          <a:p>
            <a:r>
              <a:rPr lang="en-VN" dirty="0"/>
              <a:t>3. Phương pháp thực nghiệm</a:t>
            </a:r>
          </a:p>
        </p:txBody>
      </p:sp>
    </p:spTree>
    <p:extLst>
      <p:ext uri="{BB962C8B-B14F-4D97-AF65-F5344CB8AC3E}">
        <p14:creationId xmlns:p14="http://schemas.microsoft.com/office/powerpoint/2010/main" val="2837439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6A45B-055E-5707-77AA-7BE4FDD122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EC3F4D2-CBF9-3578-C0DA-2AADB753C480}"/>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750963F7-EAEB-550B-20C7-D1666396D777}"/>
              </a:ext>
            </a:extLst>
          </p:cNvPr>
          <p:cNvSpPr>
            <a:spLocks noGrp="1"/>
          </p:cNvSpPr>
          <p:nvPr>
            <p:ph type="title"/>
          </p:nvPr>
        </p:nvSpPr>
        <p:spPr>
          <a:xfrm>
            <a:off x="838199" y="159305"/>
            <a:ext cx="10515600" cy="1325563"/>
          </a:xfrm>
        </p:spPr>
        <p:txBody>
          <a:bodyPr/>
          <a:lstStyle/>
          <a:p>
            <a:r>
              <a:rPr lang="en-VN"/>
              <a:t>3. Phương pháp thực nghiệm</a:t>
            </a:r>
            <a:endParaRPr lang="en-VN" dirty="0"/>
          </a:p>
        </p:txBody>
      </p:sp>
      <p:sp>
        <p:nvSpPr>
          <p:cNvPr id="11" name="Content Placeholder 2">
            <a:extLst>
              <a:ext uri="{FF2B5EF4-FFF2-40B4-BE49-F238E27FC236}">
                <a16:creationId xmlns:a16="http://schemas.microsoft.com/office/drawing/2014/main" id="{2A151608-F9D3-0E11-6F03-5F064F88279B}"/>
              </a:ext>
            </a:extLst>
          </p:cNvPr>
          <p:cNvSpPr txBox="1">
            <a:spLocks/>
          </p:cNvSpPr>
          <p:nvPr/>
        </p:nvSpPr>
        <p:spPr>
          <a:xfrm>
            <a:off x="502989" y="3147061"/>
            <a:ext cx="2197031" cy="563877"/>
          </a:xfrm>
          <a:prstGeom prst="rect">
            <a:avLst/>
          </a:prstGeom>
        </p:spPr>
        <p:txBody>
          <a:bodyPr vert="horz" lIns="91440" tIns="45720" rIns="91440" bIns="45720" rtlCol="0">
            <a:normAutofit fontScale="92500"/>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t>EfficientNetB4 </a:t>
            </a:r>
            <a:endParaRPr lang="en-VN"/>
          </a:p>
          <a:p>
            <a:endParaRPr lang="en-VN"/>
          </a:p>
          <a:p>
            <a:pPr marL="285750" indent="-285750">
              <a:buFont typeface="Wingdings" pitchFamily="2" charset="2"/>
              <a:buChar char="v"/>
            </a:pPr>
            <a:endParaRPr lang="vi-VN" sz="1800"/>
          </a:p>
          <a:p>
            <a:pPr marL="285750" indent="-285750">
              <a:buFont typeface="Wingdings" pitchFamily="2" charset="2"/>
              <a:buChar char="v"/>
            </a:pPr>
            <a:endParaRPr lang="vi-VN" sz="1600" dirty="0"/>
          </a:p>
        </p:txBody>
      </p:sp>
      <p:pic>
        <p:nvPicPr>
          <p:cNvPr id="17" name="Content Placeholder 16" descr="A diagram of a diagram&#10;&#10;AI-generated content may be incorrect.">
            <a:extLst>
              <a:ext uri="{FF2B5EF4-FFF2-40B4-BE49-F238E27FC236}">
                <a16:creationId xmlns:a16="http://schemas.microsoft.com/office/drawing/2014/main" id="{044112DE-1DE1-0331-7EAE-FEE19806F9E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57912" y="1279147"/>
            <a:ext cx="6655048" cy="5400422"/>
          </a:xfrm>
        </p:spPr>
      </p:pic>
    </p:spTree>
    <p:extLst>
      <p:ext uri="{BB962C8B-B14F-4D97-AF65-F5344CB8AC3E}">
        <p14:creationId xmlns:p14="http://schemas.microsoft.com/office/powerpoint/2010/main" val="1999603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F3DEC-F1DA-3FD4-E540-DD03CA690BB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FC3CD29-6C87-C090-9196-90B65D6ACFCD}"/>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6E36FF76-9FE2-C123-E788-2DFDC617B9CF}"/>
              </a:ext>
            </a:extLst>
          </p:cNvPr>
          <p:cNvSpPr>
            <a:spLocks noGrp="1"/>
          </p:cNvSpPr>
          <p:nvPr>
            <p:ph type="title"/>
          </p:nvPr>
        </p:nvSpPr>
        <p:spPr>
          <a:xfrm>
            <a:off x="838199" y="159305"/>
            <a:ext cx="10515600" cy="1325563"/>
          </a:xfrm>
        </p:spPr>
        <p:txBody>
          <a:bodyPr/>
          <a:lstStyle/>
          <a:p>
            <a:r>
              <a:rPr lang="en-VN"/>
              <a:t>3. Phương pháp thực nghiệm</a:t>
            </a:r>
            <a:endParaRPr lang="en-VN" dirty="0"/>
          </a:p>
        </p:txBody>
      </p:sp>
      <p:sp>
        <p:nvSpPr>
          <p:cNvPr id="11" name="Content Placeholder 2">
            <a:extLst>
              <a:ext uri="{FF2B5EF4-FFF2-40B4-BE49-F238E27FC236}">
                <a16:creationId xmlns:a16="http://schemas.microsoft.com/office/drawing/2014/main" id="{5329E814-5E4E-3CEF-A2F2-8D399E69F5F6}"/>
              </a:ext>
            </a:extLst>
          </p:cNvPr>
          <p:cNvSpPr txBox="1">
            <a:spLocks/>
          </p:cNvSpPr>
          <p:nvPr/>
        </p:nvSpPr>
        <p:spPr>
          <a:xfrm>
            <a:off x="502989" y="3147061"/>
            <a:ext cx="2197031" cy="563877"/>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t>Luồng xử lý </a:t>
            </a:r>
            <a:endParaRPr lang="en-VN"/>
          </a:p>
          <a:p>
            <a:endParaRPr lang="en-VN"/>
          </a:p>
          <a:p>
            <a:pPr marL="285750" indent="-285750">
              <a:buFont typeface="Wingdings" pitchFamily="2" charset="2"/>
              <a:buChar char="v"/>
            </a:pPr>
            <a:endParaRPr lang="vi-VN" sz="1800"/>
          </a:p>
          <a:p>
            <a:pPr marL="285750" indent="-285750">
              <a:buFont typeface="Wingdings" pitchFamily="2" charset="2"/>
              <a:buChar char="v"/>
            </a:pPr>
            <a:endParaRPr lang="vi-VN" sz="1600" dirty="0"/>
          </a:p>
        </p:txBody>
      </p:sp>
      <p:pic>
        <p:nvPicPr>
          <p:cNvPr id="5" name="Content Placeholder 4" descr="A diagram of a diagram&#10;&#10;AI-generated content may be incorrect.">
            <a:extLst>
              <a:ext uri="{FF2B5EF4-FFF2-40B4-BE49-F238E27FC236}">
                <a16:creationId xmlns:a16="http://schemas.microsoft.com/office/drawing/2014/main" id="{FFAD98CC-0447-465A-AB1B-A668A70DBE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13631" y="1535269"/>
            <a:ext cx="7740800" cy="4351338"/>
          </a:xfrm>
        </p:spPr>
      </p:pic>
    </p:spTree>
    <p:extLst>
      <p:ext uri="{BB962C8B-B14F-4D97-AF65-F5344CB8AC3E}">
        <p14:creationId xmlns:p14="http://schemas.microsoft.com/office/powerpoint/2010/main" val="4211924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AF0B-FD06-2795-D07B-F4C45D61C15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907AAC8-4493-5F5B-9622-F0CDEF499CA4}"/>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D1466DF2-56ED-1797-1CFF-203B7FC19CBA}"/>
              </a:ext>
            </a:extLst>
          </p:cNvPr>
          <p:cNvSpPr>
            <a:spLocks noGrp="1"/>
          </p:cNvSpPr>
          <p:nvPr>
            <p:ph type="title"/>
          </p:nvPr>
        </p:nvSpPr>
        <p:spPr>
          <a:xfrm>
            <a:off x="838199" y="159305"/>
            <a:ext cx="10515600" cy="1325563"/>
          </a:xfrm>
        </p:spPr>
        <p:txBody>
          <a:bodyPr/>
          <a:lstStyle/>
          <a:p>
            <a:r>
              <a:rPr lang="en-VN" dirty="0"/>
              <a:t>3. Phương pháp thực nghiệm</a:t>
            </a:r>
          </a:p>
        </p:txBody>
      </p:sp>
      <p:sp>
        <p:nvSpPr>
          <p:cNvPr id="3" name="Content Placeholder 2">
            <a:extLst>
              <a:ext uri="{FF2B5EF4-FFF2-40B4-BE49-F238E27FC236}">
                <a16:creationId xmlns:a16="http://schemas.microsoft.com/office/drawing/2014/main" id="{506D9318-7CF6-0DAE-299E-F2E3528D7E7A}"/>
              </a:ext>
            </a:extLst>
          </p:cNvPr>
          <p:cNvSpPr>
            <a:spLocks noGrp="1"/>
          </p:cNvSpPr>
          <p:nvPr>
            <p:ph idx="1"/>
          </p:nvPr>
        </p:nvSpPr>
        <p:spPr>
          <a:xfrm>
            <a:off x="838199" y="1253331"/>
            <a:ext cx="10515600" cy="4351338"/>
          </a:xfrm>
        </p:spPr>
        <p:txBody>
          <a:bodyPr/>
          <a:lstStyle/>
          <a:p>
            <a:r>
              <a:rPr lang="en-VN" dirty="0"/>
              <a:t>3.4 Kiến trúc </a:t>
            </a:r>
            <a:r>
              <a:rPr lang="en-VN"/>
              <a:t>mô hình</a:t>
            </a:r>
          </a:p>
          <a:p>
            <a:r>
              <a:rPr lang="vi-VN" sz="2000"/>
              <a:t>Số lượng tham số lớn có thể gây overfitting, tuy nhiên nó cho phép mô hình học và biểu diễn các đặc trưng phức tạp hơn, cần thiết cho dữ liệu có độ phức tạp cao.</a:t>
            </a:r>
            <a:endParaRPr lang="en-US" sz="2000"/>
          </a:p>
          <a:p>
            <a:endParaRPr lang="vi-VN" sz="2000" dirty="0"/>
          </a:p>
          <a:p>
            <a:endParaRPr lang="en-VN" sz="2000" dirty="0"/>
          </a:p>
        </p:txBody>
      </p:sp>
      <p:graphicFrame>
        <p:nvGraphicFramePr>
          <p:cNvPr id="2" name="Table 1">
            <a:extLst>
              <a:ext uri="{FF2B5EF4-FFF2-40B4-BE49-F238E27FC236}">
                <a16:creationId xmlns:a16="http://schemas.microsoft.com/office/drawing/2014/main" id="{B6DA3EC9-4DFD-EED1-F3CD-C6537B90AE1C}"/>
              </a:ext>
            </a:extLst>
          </p:cNvPr>
          <p:cNvGraphicFramePr>
            <a:graphicFrameLocks noGrp="1"/>
          </p:cNvGraphicFramePr>
          <p:nvPr>
            <p:extLst>
              <p:ext uri="{D42A27DB-BD31-4B8C-83A1-F6EECF244321}">
                <p14:modId xmlns:p14="http://schemas.microsoft.com/office/powerpoint/2010/main" val="2807022640"/>
              </p:ext>
            </p:extLst>
          </p:nvPr>
        </p:nvGraphicFramePr>
        <p:xfrm>
          <a:off x="838199" y="2578894"/>
          <a:ext cx="10515600" cy="3324013"/>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2777247"/>
                    </a:ext>
                  </a:extLst>
                </a:gridCol>
                <a:gridCol w="1752600">
                  <a:extLst>
                    <a:ext uri="{9D8B030D-6E8A-4147-A177-3AD203B41FA5}">
                      <a16:colId xmlns:a16="http://schemas.microsoft.com/office/drawing/2014/main" val="3389163295"/>
                    </a:ext>
                  </a:extLst>
                </a:gridCol>
                <a:gridCol w="1752600">
                  <a:extLst>
                    <a:ext uri="{9D8B030D-6E8A-4147-A177-3AD203B41FA5}">
                      <a16:colId xmlns:a16="http://schemas.microsoft.com/office/drawing/2014/main" val="1869494753"/>
                    </a:ext>
                  </a:extLst>
                </a:gridCol>
                <a:gridCol w="1752600">
                  <a:extLst>
                    <a:ext uri="{9D8B030D-6E8A-4147-A177-3AD203B41FA5}">
                      <a16:colId xmlns:a16="http://schemas.microsoft.com/office/drawing/2014/main" val="1296144137"/>
                    </a:ext>
                  </a:extLst>
                </a:gridCol>
                <a:gridCol w="1752600">
                  <a:extLst>
                    <a:ext uri="{9D8B030D-6E8A-4147-A177-3AD203B41FA5}">
                      <a16:colId xmlns:a16="http://schemas.microsoft.com/office/drawing/2014/main" val="2316851710"/>
                    </a:ext>
                  </a:extLst>
                </a:gridCol>
                <a:gridCol w="1752600">
                  <a:extLst>
                    <a:ext uri="{9D8B030D-6E8A-4147-A177-3AD203B41FA5}">
                      <a16:colId xmlns:a16="http://schemas.microsoft.com/office/drawing/2014/main" val="384285761"/>
                    </a:ext>
                  </a:extLst>
                </a:gridCol>
              </a:tblGrid>
              <a:tr h="474859">
                <a:tc>
                  <a:txBody>
                    <a:bodyPr/>
                    <a:lstStyle/>
                    <a:p>
                      <a:pPr algn="ctr">
                        <a:lnSpc>
                          <a:spcPct val="120000"/>
                        </a:lnSpc>
                        <a:buNone/>
                      </a:pPr>
                      <a:r>
                        <a:rPr lang="en-US" sz="1600" b="1">
                          <a:solidFill>
                            <a:srgbClr val="000000"/>
                          </a:solidFill>
                          <a:effectLst/>
                          <a:latin typeface="Readex Pro" panose="020B0604020202020204" charset="-78"/>
                          <a:cs typeface="Readex Pro" panose="020B0604020202020204" charset="-78"/>
                        </a:rPr>
                        <a:t>STT</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nchor="ctr"/>
                </a:tc>
                <a:tc>
                  <a:txBody>
                    <a:bodyPr/>
                    <a:lstStyle/>
                    <a:p>
                      <a:pPr algn="ctr">
                        <a:lnSpc>
                          <a:spcPct val="120000"/>
                        </a:lnSpc>
                        <a:buNone/>
                      </a:pPr>
                      <a:r>
                        <a:rPr lang="en-US" sz="1600" b="1">
                          <a:solidFill>
                            <a:srgbClr val="000000"/>
                          </a:solidFill>
                          <a:effectLst/>
                          <a:latin typeface="Readex Pro" panose="020B0604020202020204" charset="-78"/>
                          <a:cs typeface="Readex Pro" panose="020B0604020202020204" charset="-78"/>
                        </a:rPr>
                        <a:t>Mô hình</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nchor="ctr"/>
                </a:tc>
                <a:tc>
                  <a:txBody>
                    <a:bodyPr/>
                    <a:lstStyle/>
                    <a:p>
                      <a:pPr algn="ctr">
                        <a:lnSpc>
                          <a:spcPct val="120000"/>
                        </a:lnSpc>
                        <a:buNone/>
                      </a:pPr>
                      <a:r>
                        <a:rPr lang="en-US" sz="1600" b="1">
                          <a:solidFill>
                            <a:srgbClr val="000000"/>
                          </a:solidFill>
                          <a:effectLst/>
                          <a:latin typeface="Readex Pro" panose="020B0604020202020204" charset="-78"/>
                          <a:cs typeface="Readex Pro" panose="020B0604020202020204" charset="-78"/>
                        </a:rPr>
                        <a:t>Tham số</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nchor="ctr"/>
                </a:tc>
                <a:tc>
                  <a:txBody>
                    <a:bodyPr/>
                    <a:lstStyle/>
                    <a:p>
                      <a:pPr algn="ctr">
                        <a:lnSpc>
                          <a:spcPct val="120000"/>
                        </a:lnSpc>
                        <a:buNone/>
                      </a:pPr>
                      <a:r>
                        <a:rPr lang="en-US" sz="1600" b="1">
                          <a:solidFill>
                            <a:srgbClr val="000000"/>
                          </a:solidFill>
                          <a:effectLst/>
                          <a:latin typeface="Readex Pro" panose="020B0604020202020204" charset="-78"/>
                          <a:cs typeface="Readex Pro" panose="020B0604020202020204" charset="-78"/>
                        </a:rPr>
                        <a:t>STT</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nchor="ctr"/>
                </a:tc>
                <a:tc>
                  <a:txBody>
                    <a:bodyPr/>
                    <a:lstStyle/>
                    <a:p>
                      <a:pPr algn="ctr">
                        <a:lnSpc>
                          <a:spcPct val="120000"/>
                        </a:lnSpc>
                        <a:buNone/>
                      </a:pPr>
                      <a:r>
                        <a:rPr lang="en-US" sz="1600" b="1">
                          <a:solidFill>
                            <a:srgbClr val="000000"/>
                          </a:solidFill>
                          <a:effectLst/>
                          <a:latin typeface="Readex Pro" panose="020B0604020202020204" charset="-78"/>
                          <a:cs typeface="Readex Pro" panose="020B0604020202020204" charset="-78"/>
                        </a:rPr>
                        <a:t>Mô hình</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nchor="ctr"/>
                </a:tc>
                <a:tc>
                  <a:txBody>
                    <a:bodyPr/>
                    <a:lstStyle/>
                    <a:p>
                      <a:pPr algn="ctr">
                        <a:lnSpc>
                          <a:spcPct val="120000"/>
                        </a:lnSpc>
                        <a:buNone/>
                      </a:pPr>
                      <a:r>
                        <a:rPr lang="en-US" sz="1600" b="1">
                          <a:solidFill>
                            <a:srgbClr val="000000"/>
                          </a:solidFill>
                          <a:effectLst/>
                          <a:latin typeface="Readex Pro" panose="020B0604020202020204" charset="-78"/>
                          <a:cs typeface="Readex Pro" panose="020B0604020202020204" charset="-78"/>
                        </a:rPr>
                        <a:t>Tham số</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nchor="ctr"/>
                </a:tc>
                <a:extLst>
                  <a:ext uri="{0D108BD9-81ED-4DB2-BD59-A6C34878D82A}">
                    <a16:rowId xmlns:a16="http://schemas.microsoft.com/office/drawing/2014/main" val="3821160013"/>
                  </a:ext>
                </a:extLst>
              </a:tr>
              <a:tr h="474859">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DenseNet121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7M1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7</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EfficientNetB3</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10M11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extLst>
                  <a:ext uri="{0D108BD9-81ED-4DB2-BD59-A6C34878D82A}">
                    <a16:rowId xmlns:a16="http://schemas.microsoft.com/office/drawing/2014/main" val="2098275543"/>
                  </a:ext>
                </a:extLst>
              </a:tr>
              <a:tr h="474859">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DenseNet169</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12M70</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8</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EfficientNetB4</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16M75</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extLst>
                  <a:ext uri="{0D108BD9-81ED-4DB2-BD59-A6C34878D82A}">
                    <a16:rowId xmlns:a16="http://schemas.microsoft.com/office/drawing/2014/main" val="1717028651"/>
                  </a:ext>
                </a:extLst>
              </a:tr>
              <a:tr h="474859">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3</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EfficientNetB0</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3M60</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9</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ResNet152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58M29</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extLst>
                  <a:ext uri="{0D108BD9-81ED-4DB2-BD59-A6C34878D82A}">
                    <a16:rowId xmlns:a16="http://schemas.microsoft.com/office/drawing/2014/main" val="602928199"/>
                  </a:ext>
                </a:extLst>
              </a:tr>
              <a:tr h="474859">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4</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EfficientNetB1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6M11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10</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ResNet50</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23M52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extLst>
                  <a:ext uri="{0D108BD9-81ED-4DB2-BD59-A6C34878D82A}">
                    <a16:rowId xmlns:a16="http://schemas.microsoft.com/office/drawing/2014/main" val="232323845"/>
                  </a:ext>
                </a:extLst>
              </a:tr>
              <a:tr h="474859">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5</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EfficientNetB2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7M21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11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MobileNetV2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1M82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extLst>
                  <a:ext uri="{0D108BD9-81ED-4DB2-BD59-A6C34878D82A}">
                    <a16:rowId xmlns:a16="http://schemas.microsoft.com/office/drawing/2014/main" val="3641435780"/>
                  </a:ext>
                </a:extLst>
              </a:tr>
              <a:tr h="474859">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6</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EfficientNetB3</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10M11</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12</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b="1">
                          <a:solidFill>
                            <a:srgbClr val="000000"/>
                          </a:solidFill>
                          <a:effectLst/>
                          <a:latin typeface="Readex Pro" panose="020B0604020202020204" charset="-78"/>
                          <a:cs typeface="Readex Pro" panose="020B0604020202020204" charset="-78"/>
                        </a:rPr>
                        <a:t>MobileNetV3</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tc>
                  <a:txBody>
                    <a:bodyPr/>
                    <a:lstStyle/>
                    <a:p>
                      <a:pPr algn="just">
                        <a:lnSpc>
                          <a:spcPct val="120000"/>
                        </a:lnSpc>
                        <a:buNone/>
                      </a:pPr>
                      <a:r>
                        <a:rPr lang="en-US" sz="1600">
                          <a:solidFill>
                            <a:srgbClr val="000000"/>
                          </a:solidFill>
                          <a:effectLst/>
                          <a:latin typeface="Readex Pro" panose="020B0604020202020204" charset="-78"/>
                          <a:cs typeface="Readex Pro" panose="020B0604020202020204" charset="-78"/>
                        </a:rPr>
                        <a:t>2M98</a:t>
                      </a:r>
                      <a:endParaRPr lang="en-US" sz="1600">
                        <a:effectLst/>
                        <a:latin typeface="Readex Pro" panose="020B0604020202020204" charset="-78"/>
                        <a:ea typeface="Times New Roman" panose="02020603050405020304" pitchFamily="18" charset="0"/>
                        <a:cs typeface="Readex Pro" panose="020B0604020202020204" charset="-78"/>
                      </a:endParaRPr>
                    </a:p>
                  </a:txBody>
                  <a:tcPr marL="68580" marR="68580" marT="0" marB="0"/>
                </a:tc>
                <a:extLst>
                  <a:ext uri="{0D108BD9-81ED-4DB2-BD59-A6C34878D82A}">
                    <a16:rowId xmlns:a16="http://schemas.microsoft.com/office/drawing/2014/main" val="3027947588"/>
                  </a:ext>
                </a:extLst>
              </a:tr>
            </a:tbl>
          </a:graphicData>
        </a:graphic>
      </p:graphicFrame>
    </p:spTree>
    <p:extLst>
      <p:ext uri="{BB962C8B-B14F-4D97-AF65-F5344CB8AC3E}">
        <p14:creationId xmlns:p14="http://schemas.microsoft.com/office/powerpoint/2010/main" val="3911152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A36E6-4F3E-0280-DC54-5DFB0842C4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EC35AFC-2397-EF2F-6002-202FCF814737}"/>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885B2202-856E-B8AD-AD33-6DDBE7C4E9EC}"/>
              </a:ext>
            </a:extLst>
          </p:cNvPr>
          <p:cNvSpPr>
            <a:spLocks noGrp="1"/>
          </p:cNvSpPr>
          <p:nvPr>
            <p:ph type="title"/>
          </p:nvPr>
        </p:nvSpPr>
        <p:spPr>
          <a:xfrm>
            <a:off x="838199" y="159305"/>
            <a:ext cx="10515600" cy="1325563"/>
          </a:xfrm>
        </p:spPr>
        <p:txBody>
          <a:bodyPr/>
          <a:lstStyle/>
          <a:p>
            <a:r>
              <a:rPr lang="en-VN" dirty="0"/>
              <a:t>4. Kết quả thực nghiệm</a:t>
            </a:r>
          </a:p>
        </p:txBody>
      </p:sp>
      <p:sp>
        <p:nvSpPr>
          <p:cNvPr id="3" name="Content Placeholder 2">
            <a:extLst>
              <a:ext uri="{FF2B5EF4-FFF2-40B4-BE49-F238E27FC236}">
                <a16:creationId xmlns:a16="http://schemas.microsoft.com/office/drawing/2014/main" id="{F85CBDEC-9AF0-2870-62F7-3DF67A0F1E01}"/>
              </a:ext>
            </a:extLst>
          </p:cNvPr>
          <p:cNvSpPr>
            <a:spLocks noGrp="1"/>
          </p:cNvSpPr>
          <p:nvPr>
            <p:ph idx="1"/>
          </p:nvPr>
        </p:nvSpPr>
        <p:spPr/>
        <p:txBody>
          <a:bodyPr>
            <a:normAutofit/>
          </a:bodyPr>
          <a:lstStyle/>
          <a:p>
            <a:r>
              <a:rPr lang="en-VN" dirty="0"/>
              <a:t>4.1 Môi trường cài đặt và độ đo đánh giá</a:t>
            </a:r>
          </a:p>
          <a:p>
            <a:pPr marL="342900" indent="-342900">
              <a:buFont typeface="Arial" panose="020B0604020202020204" pitchFamily="34" charset="0"/>
              <a:buChar char="•"/>
            </a:pPr>
            <a:r>
              <a:rPr lang="vi-VN" sz="2000"/>
              <a:t>Trong </a:t>
            </a:r>
            <a:r>
              <a:rPr lang="en-US" sz="2000"/>
              <a:t>nghiên cứu </a:t>
            </a:r>
            <a:r>
              <a:rPr lang="vi-VN" sz="2000"/>
              <a:t>này</a:t>
            </a:r>
            <a:r>
              <a:rPr lang="en-US" sz="2000"/>
              <a:t> </a:t>
            </a:r>
            <a:r>
              <a:rPr lang="vi-VN" sz="2000"/>
              <a:t>sử dụng môi trường Kaggle với GPU T4x2 (2x NVIDIA Tesla T4 15.36 GB GDDR6) trên Linux 6.6.56+, CPU 4 nhân và 29.46 GB RAM (tổng 31.35 GB).</a:t>
            </a:r>
            <a:endParaRPr lang="en-VN" sz="2000" dirty="0"/>
          </a:p>
          <a:p>
            <a:pPr marL="342900" indent="-342900">
              <a:buFont typeface="Arial" panose="020B0604020202020204" pitchFamily="34" charset="0"/>
              <a:buChar char="•"/>
            </a:pPr>
            <a:r>
              <a:rPr lang="vi-VN" sz="2000" dirty="0"/>
              <a:t>Tham số cần thiết khi huấn luyện mô hình: kích thước batch 32, tốc độ </a:t>
            </a:r>
            <a:r>
              <a:rPr lang="vi-VN" sz="2000"/>
              <a:t>học </a:t>
            </a:r>
            <a:r>
              <a:rPr lang="en-US" sz="2000"/>
              <a:t>1</a:t>
            </a:r>
            <a:r>
              <a:rPr lang="vi-VN" sz="2000"/>
              <a:t>e-</a:t>
            </a:r>
            <a:r>
              <a:rPr lang="en-US" sz="2000"/>
              <a:t>3</a:t>
            </a:r>
            <a:r>
              <a:rPr lang="vi-VN" sz="2000"/>
              <a:t>.</a:t>
            </a:r>
            <a:endParaRPr lang="vi-VN" sz="2000" dirty="0"/>
          </a:p>
          <a:p>
            <a:pPr marL="342900" indent="-342900">
              <a:buFont typeface="Arial" panose="020B0604020202020204" pitchFamily="34" charset="0"/>
              <a:buChar char="•"/>
            </a:pPr>
            <a:r>
              <a:rPr lang="vi-VN" sz="2000" dirty="0"/>
              <a:t>Áp dụng kỹ thuật dừng sớm (early stoping), giúp dừng quá trình huấn luyện số epoch chờ </a:t>
            </a:r>
            <a:r>
              <a:rPr lang="vi-VN" sz="2000"/>
              <a:t>là </a:t>
            </a:r>
            <a:r>
              <a:rPr lang="en-US" sz="2000"/>
              <a:t>20</a:t>
            </a:r>
            <a:r>
              <a:rPr lang="vi-VN" sz="2000"/>
              <a:t>.</a:t>
            </a:r>
            <a:endParaRPr lang="vi-VN" sz="2000" dirty="0"/>
          </a:p>
        </p:txBody>
      </p:sp>
    </p:spTree>
    <p:extLst>
      <p:ext uri="{BB962C8B-B14F-4D97-AF65-F5344CB8AC3E}">
        <p14:creationId xmlns:p14="http://schemas.microsoft.com/office/powerpoint/2010/main" val="2437569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3CD6-7E26-7D82-BB95-1915F04F854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D6EA7DB-DEB0-E197-DCDF-AB306DB509D6}"/>
              </a:ext>
            </a:extLst>
          </p:cNvPr>
          <p:cNvSpPr txBox="1"/>
          <p:nvPr/>
        </p:nvSpPr>
        <p:spPr>
          <a:xfrm>
            <a:off x="3023754" y="4952670"/>
            <a:ext cx="198959" cy="420916"/>
          </a:xfrm>
          <a:prstGeom prst="rect">
            <a:avLst/>
          </a:prstGeom>
          <a:noFill/>
        </p:spPr>
        <p:txBody>
          <a:bodyPr wrap="square" rtlCol="0">
            <a:spAutoFit/>
          </a:bodyPr>
          <a:lstStyle/>
          <a:p>
            <a:endParaRPr lang="en-VN" dirty="0"/>
          </a:p>
        </p:txBody>
      </p:sp>
      <p:sp>
        <p:nvSpPr>
          <p:cNvPr id="3" name="Content Placeholder 2">
            <a:extLst>
              <a:ext uri="{FF2B5EF4-FFF2-40B4-BE49-F238E27FC236}">
                <a16:creationId xmlns:a16="http://schemas.microsoft.com/office/drawing/2014/main" id="{D4061F10-E90F-DCF0-7FA9-EB7C12FB5B8F}"/>
              </a:ext>
            </a:extLst>
          </p:cNvPr>
          <p:cNvSpPr>
            <a:spLocks noGrp="1"/>
          </p:cNvSpPr>
          <p:nvPr>
            <p:ph idx="1"/>
          </p:nvPr>
        </p:nvSpPr>
        <p:spPr/>
        <p:txBody>
          <a:bodyPr/>
          <a:lstStyle/>
          <a:p>
            <a:r>
              <a:rPr lang="en-VN" dirty="0"/>
              <a:t>4.1 Môi trường cài đặt và độ đo đánh giá</a:t>
            </a:r>
          </a:p>
          <a:p>
            <a:endParaRPr lang="en-VN" dirty="0"/>
          </a:p>
          <a:p>
            <a:endParaRPr lang="en-VN" dirty="0"/>
          </a:p>
        </p:txBody>
      </p:sp>
      <p:pic>
        <p:nvPicPr>
          <p:cNvPr id="5" name="Picture 4">
            <a:extLst>
              <a:ext uri="{FF2B5EF4-FFF2-40B4-BE49-F238E27FC236}">
                <a16:creationId xmlns:a16="http://schemas.microsoft.com/office/drawing/2014/main" id="{C92E326B-1764-34D2-B7F0-D2ED34BAB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053" y="4852063"/>
            <a:ext cx="2663178" cy="709216"/>
          </a:xfrm>
          <a:prstGeom prst="rect">
            <a:avLst/>
          </a:prstGeom>
        </p:spPr>
      </p:pic>
      <p:pic>
        <p:nvPicPr>
          <p:cNvPr id="9" name="Picture 8">
            <a:extLst>
              <a:ext uri="{FF2B5EF4-FFF2-40B4-BE49-F238E27FC236}">
                <a16:creationId xmlns:a16="http://schemas.microsoft.com/office/drawing/2014/main" id="{F03FFAE4-FCBE-BA25-0860-4D3B7C7C17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4635" y="3068083"/>
            <a:ext cx="2547389" cy="738164"/>
          </a:xfrm>
          <a:prstGeom prst="rect">
            <a:avLst/>
          </a:prstGeom>
        </p:spPr>
      </p:pic>
      <p:pic>
        <p:nvPicPr>
          <p:cNvPr id="11" name="Picture 10">
            <a:extLst>
              <a:ext uri="{FF2B5EF4-FFF2-40B4-BE49-F238E27FC236}">
                <a16:creationId xmlns:a16="http://schemas.microsoft.com/office/drawing/2014/main" id="{03B4A582-FBEF-7F28-5680-538D50A498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1976" y="3011217"/>
            <a:ext cx="2359228" cy="839480"/>
          </a:xfrm>
          <a:prstGeom prst="rect">
            <a:avLst/>
          </a:prstGeom>
        </p:spPr>
      </p:pic>
      <p:pic>
        <p:nvPicPr>
          <p:cNvPr id="13" name="Picture 12">
            <a:extLst>
              <a:ext uri="{FF2B5EF4-FFF2-40B4-BE49-F238E27FC236}">
                <a16:creationId xmlns:a16="http://schemas.microsoft.com/office/drawing/2014/main" id="{97056EBA-00BA-BFE1-C53B-4315A4F02A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85326" y="4829996"/>
            <a:ext cx="2055278" cy="694742"/>
          </a:xfrm>
          <a:prstGeom prst="rect">
            <a:avLst/>
          </a:prstGeom>
        </p:spPr>
      </p:pic>
      <p:pic>
        <p:nvPicPr>
          <p:cNvPr id="15" name="Picture 14">
            <a:extLst>
              <a:ext uri="{FF2B5EF4-FFF2-40B4-BE49-F238E27FC236}">
                <a16:creationId xmlns:a16="http://schemas.microsoft.com/office/drawing/2014/main" id="{63DE4BF4-98AA-7E2B-1504-9BE6F76999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34215" y="3030970"/>
            <a:ext cx="2084227" cy="796059"/>
          </a:xfrm>
          <a:prstGeom prst="rect">
            <a:avLst/>
          </a:prstGeom>
        </p:spPr>
      </p:pic>
      <p:pic>
        <p:nvPicPr>
          <p:cNvPr id="17" name="Picture 16">
            <a:extLst>
              <a:ext uri="{FF2B5EF4-FFF2-40B4-BE49-F238E27FC236}">
                <a16:creationId xmlns:a16="http://schemas.microsoft.com/office/drawing/2014/main" id="{38347D56-D82B-B043-F71C-1BDAED3389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28890" y="4779694"/>
            <a:ext cx="2142122" cy="781585"/>
          </a:xfrm>
          <a:prstGeom prst="rect">
            <a:avLst/>
          </a:prstGeom>
        </p:spPr>
      </p:pic>
      <p:sp>
        <p:nvSpPr>
          <p:cNvPr id="8" name="Title 1">
            <a:extLst>
              <a:ext uri="{FF2B5EF4-FFF2-40B4-BE49-F238E27FC236}">
                <a16:creationId xmlns:a16="http://schemas.microsoft.com/office/drawing/2014/main" id="{4855481B-3F6D-AE45-8C6B-6D6099AFC3DE}"/>
              </a:ext>
            </a:extLst>
          </p:cNvPr>
          <p:cNvSpPr>
            <a:spLocks noGrp="1"/>
          </p:cNvSpPr>
          <p:nvPr>
            <p:ph type="title"/>
          </p:nvPr>
        </p:nvSpPr>
        <p:spPr>
          <a:xfrm>
            <a:off x="838199" y="159305"/>
            <a:ext cx="10515600" cy="1325563"/>
          </a:xfrm>
        </p:spPr>
        <p:txBody>
          <a:bodyPr/>
          <a:lstStyle/>
          <a:p>
            <a:r>
              <a:rPr lang="en-VN" dirty="0"/>
              <a:t>4. Kết quả thực nghiệm</a:t>
            </a:r>
          </a:p>
        </p:txBody>
      </p:sp>
    </p:spTree>
    <p:extLst>
      <p:ext uri="{BB962C8B-B14F-4D97-AF65-F5344CB8AC3E}">
        <p14:creationId xmlns:p14="http://schemas.microsoft.com/office/powerpoint/2010/main" val="3473939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C4A9-CB2F-628A-3758-9D7C41B406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420764-B858-8711-72AD-900573AE9F43}"/>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4.2 Kịch bản 1: So sánh hiệu suất các cấu hình khi </a:t>
            </a:r>
            <a:r>
              <a:rPr lang="en-VN" sz="2000" b="1" dirty="0"/>
              <a:t>không</a:t>
            </a:r>
            <a:r>
              <a:rPr lang="en-VN" sz="2000" dirty="0"/>
              <a:t> có dữ liệu tăng cường</a:t>
            </a:r>
          </a:p>
          <a:p>
            <a:pPr>
              <a:lnSpc>
                <a:spcPct val="150000"/>
              </a:lnSpc>
            </a:pPr>
            <a:endParaRPr lang="en-VN" sz="2000" dirty="0"/>
          </a:p>
        </p:txBody>
      </p:sp>
      <p:pic>
        <p:nvPicPr>
          <p:cNvPr id="4" name="Picture 3">
            <a:extLst>
              <a:ext uri="{FF2B5EF4-FFF2-40B4-BE49-F238E27FC236}">
                <a16:creationId xmlns:a16="http://schemas.microsoft.com/office/drawing/2014/main" id="{437AA770-3C39-2150-A590-7510F4DB9FDA}"/>
              </a:ext>
            </a:extLst>
          </p:cNvPr>
          <p:cNvPicPr>
            <a:picLocks noChangeAspect="1"/>
          </p:cNvPicPr>
          <p:nvPr/>
        </p:nvPicPr>
        <p:blipFill>
          <a:blip r:embed="rId2"/>
          <a:stretch>
            <a:fillRect/>
          </a:stretch>
        </p:blipFill>
        <p:spPr>
          <a:xfrm>
            <a:off x="3070731" y="1320289"/>
            <a:ext cx="6050538" cy="4827022"/>
          </a:xfrm>
          <a:prstGeom prst="rect">
            <a:avLst/>
          </a:prstGeom>
        </p:spPr>
      </p:pic>
    </p:spTree>
    <p:extLst>
      <p:ext uri="{BB962C8B-B14F-4D97-AF65-F5344CB8AC3E}">
        <p14:creationId xmlns:p14="http://schemas.microsoft.com/office/powerpoint/2010/main" val="3104881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0D5A-B448-3750-4F54-C29FBDD0B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82849A-98FE-0976-B0CE-983CB4F872FD}"/>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4.2 Kịch bản 1: So sánh hiệu suất các cấu hình khi </a:t>
            </a:r>
            <a:r>
              <a:rPr lang="en-VN" sz="2000" b="1" dirty="0"/>
              <a:t>không</a:t>
            </a:r>
            <a:r>
              <a:rPr lang="en-VN" sz="2000" dirty="0"/>
              <a:t> có dữ liệu tăng cường</a:t>
            </a:r>
          </a:p>
          <a:p>
            <a:pPr>
              <a:lnSpc>
                <a:spcPct val="150000"/>
              </a:lnSpc>
            </a:pPr>
            <a:endParaRPr lang="en-VN" sz="2000" dirty="0"/>
          </a:p>
        </p:txBody>
      </p:sp>
      <p:pic>
        <p:nvPicPr>
          <p:cNvPr id="5" name="Picture 4">
            <a:extLst>
              <a:ext uri="{FF2B5EF4-FFF2-40B4-BE49-F238E27FC236}">
                <a16:creationId xmlns:a16="http://schemas.microsoft.com/office/drawing/2014/main" id="{E2EB23FE-563B-6830-15A1-D3242C783D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2750" y="1287463"/>
            <a:ext cx="6286500" cy="4889500"/>
          </a:xfrm>
          <a:prstGeom prst="rect">
            <a:avLst/>
          </a:prstGeom>
        </p:spPr>
      </p:pic>
      <p:sp>
        <p:nvSpPr>
          <p:cNvPr id="4" name="TextBox 3">
            <a:extLst>
              <a:ext uri="{FF2B5EF4-FFF2-40B4-BE49-F238E27FC236}">
                <a16:creationId xmlns:a16="http://schemas.microsoft.com/office/drawing/2014/main" id="{5790E384-9FC7-047A-9C55-DC8F53FF2DF6}"/>
              </a:ext>
            </a:extLst>
          </p:cNvPr>
          <p:cNvSpPr txBox="1"/>
          <p:nvPr/>
        </p:nvSpPr>
        <p:spPr>
          <a:xfrm>
            <a:off x="3906981" y="3875809"/>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0,9114</a:t>
            </a:r>
          </a:p>
        </p:txBody>
      </p:sp>
      <p:sp>
        <p:nvSpPr>
          <p:cNvPr id="7" name="TextBox 6">
            <a:extLst>
              <a:ext uri="{FF2B5EF4-FFF2-40B4-BE49-F238E27FC236}">
                <a16:creationId xmlns:a16="http://schemas.microsoft.com/office/drawing/2014/main" id="{92AEEC26-4EA9-B5C7-286B-507CEB1780F3}"/>
              </a:ext>
            </a:extLst>
          </p:cNvPr>
          <p:cNvSpPr txBox="1"/>
          <p:nvPr/>
        </p:nvSpPr>
        <p:spPr>
          <a:xfrm>
            <a:off x="4234295" y="2053936"/>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0,9515</a:t>
            </a:r>
          </a:p>
        </p:txBody>
      </p:sp>
      <p:sp>
        <p:nvSpPr>
          <p:cNvPr id="8" name="TextBox 7">
            <a:extLst>
              <a:ext uri="{FF2B5EF4-FFF2-40B4-BE49-F238E27FC236}">
                <a16:creationId xmlns:a16="http://schemas.microsoft.com/office/drawing/2014/main" id="{7D269BC8-F2A2-CFC8-77E2-3D7D2D69496E}"/>
              </a:ext>
            </a:extLst>
          </p:cNvPr>
          <p:cNvSpPr txBox="1"/>
          <p:nvPr/>
        </p:nvSpPr>
        <p:spPr>
          <a:xfrm>
            <a:off x="5789467" y="3325740"/>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0,9235</a:t>
            </a:r>
          </a:p>
        </p:txBody>
      </p:sp>
      <p:sp>
        <p:nvSpPr>
          <p:cNvPr id="9" name="TextBox 8">
            <a:extLst>
              <a:ext uri="{FF2B5EF4-FFF2-40B4-BE49-F238E27FC236}">
                <a16:creationId xmlns:a16="http://schemas.microsoft.com/office/drawing/2014/main" id="{1EEE041C-0C49-6AA1-6A45-A0D8A74B6900}"/>
              </a:ext>
            </a:extLst>
          </p:cNvPr>
          <p:cNvSpPr txBox="1"/>
          <p:nvPr/>
        </p:nvSpPr>
        <p:spPr>
          <a:xfrm>
            <a:off x="6116782" y="1731818"/>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0,9587</a:t>
            </a:r>
          </a:p>
        </p:txBody>
      </p:sp>
      <p:sp>
        <p:nvSpPr>
          <p:cNvPr id="10" name="TextBox 9">
            <a:extLst>
              <a:ext uri="{FF2B5EF4-FFF2-40B4-BE49-F238E27FC236}">
                <a16:creationId xmlns:a16="http://schemas.microsoft.com/office/drawing/2014/main" id="{819E4098-064D-AD6D-5475-33B59239678A}"/>
              </a:ext>
            </a:extLst>
          </p:cNvPr>
          <p:cNvSpPr txBox="1"/>
          <p:nvPr/>
        </p:nvSpPr>
        <p:spPr>
          <a:xfrm>
            <a:off x="7675417" y="3294567"/>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0,9241</a:t>
            </a:r>
          </a:p>
        </p:txBody>
      </p:sp>
      <p:sp>
        <p:nvSpPr>
          <p:cNvPr id="11" name="TextBox 10">
            <a:extLst>
              <a:ext uri="{FF2B5EF4-FFF2-40B4-BE49-F238E27FC236}">
                <a16:creationId xmlns:a16="http://schemas.microsoft.com/office/drawing/2014/main" id="{20201497-FD6A-0BFA-A6EA-E811380F3242}"/>
              </a:ext>
            </a:extLst>
          </p:cNvPr>
          <p:cNvSpPr txBox="1"/>
          <p:nvPr/>
        </p:nvSpPr>
        <p:spPr>
          <a:xfrm>
            <a:off x="8013122" y="1713303"/>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0,9590</a:t>
            </a:r>
          </a:p>
        </p:txBody>
      </p:sp>
    </p:spTree>
    <p:extLst>
      <p:ext uri="{BB962C8B-B14F-4D97-AF65-F5344CB8AC3E}">
        <p14:creationId xmlns:p14="http://schemas.microsoft.com/office/powerpoint/2010/main" val="2890121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70970-7104-7D9B-0CC2-6E83DC7B44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385C8-0F96-6887-9141-1969DCAB1161}"/>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4.3 Kịch bản 2: So sánh hiệu quả của các phương pháp tăng cường</a:t>
            </a:r>
          </a:p>
          <a:p>
            <a:pPr>
              <a:lnSpc>
                <a:spcPct val="150000"/>
              </a:lnSpc>
            </a:pPr>
            <a:endParaRPr lang="en-VN" sz="2000" dirty="0"/>
          </a:p>
        </p:txBody>
      </p:sp>
      <p:pic>
        <p:nvPicPr>
          <p:cNvPr id="5" name="Picture 4">
            <a:extLst>
              <a:ext uri="{FF2B5EF4-FFF2-40B4-BE49-F238E27FC236}">
                <a16:creationId xmlns:a16="http://schemas.microsoft.com/office/drawing/2014/main" id="{24228509-F88C-6879-8963-F28F0EF2AB47}"/>
              </a:ext>
            </a:extLst>
          </p:cNvPr>
          <p:cNvPicPr>
            <a:picLocks noChangeAspect="1"/>
          </p:cNvPicPr>
          <p:nvPr/>
        </p:nvPicPr>
        <p:blipFill>
          <a:blip r:embed="rId2">
            <a:extLst>
              <a:ext uri="{28A0092B-C50C-407E-A947-70E740481C1C}">
                <a14:useLocalDpi xmlns:a14="http://schemas.microsoft.com/office/drawing/2010/main" val="0"/>
              </a:ext>
            </a:extLst>
          </a:blip>
          <a:srcRect t="1" b="14102"/>
          <a:stretch/>
        </p:blipFill>
        <p:spPr>
          <a:xfrm>
            <a:off x="660400" y="982691"/>
            <a:ext cx="5435600" cy="5380009"/>
          </a:xfrm>
          <a:prstGeom prst="rect">
            <a:avLst/>
          </a:prstGeom>
        </p:spPr>
      </p:pic>
      <p:pic>
        <p:nvPicPr>
          <p:cNvPr id="7" name="Picture 6">
            <a:extLst>
              <a:ext uri="{FF2B5EF4-FFF2-40B4-BE49-F238E27FC236}">
                <a16:creationId xmlns:a16="http://schemas.microsoft.com/office/drawing/2014/main" id="{9BA80A82-EDC0-5161-78A7-40C62B9E9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9850" y="2983256"/>
            <a:ext cx="5435601" cy="891488"/>
          </a:xfrm>
          <a:prstGeom prst="rect">
            <a:avLst/>
          </a:prstGeom>
        </p:spPr>
      </p:pic>
      <p:pic>
        <p:nvPicPr>
          <p:cNvPr id="9" name="Picture 8">
            <a:extLst>
              <a:ext uri="{FF2B5EF4-FFF2-40B4-BE49-F238E27FC236}">
                <a16:creationId xmlns:a16="http://schemas.microsoft.com/office/drawing/2014/main" id="{7466409D-A452-5F61-3963-0CA44AF749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9850" y="2750808"/>
            <a:ext cx="5435600" cy="247636"/>
          </a:xfrm>
          <a:prstGeom prst="rect">
            <a:avLst/>
          </a:prstGeom>
        </p:spPr>
      </p:pic>
    </p:spTree>
    <p:extLst>
      <p:ext uri="{BB962C8B-B14F-4D97-AF65-F5344CB8AC3E}">
        <p14:creationId xmlns:p14="http://schemas.microsoft.com/office/powerpoint/2010/main" val="1490447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44B44-AE2A-9D7A-41F0-6712C65EA9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94979-26A3-823B-2F94-0AD5137F3AA0}"/>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4.3 Kịch bản 2: So sánh hiệu quả của các phương pháp tăng cường</a:t>
            </a:r>
          </a:p>
          <a:p>
            <a:pPr>
              <a:lnSpc>
                <a:spcPct val="150000"/>
              </a:lnSpc>
            </a:pPr>
            <a:endParaRPr lang="en-VN" sz="2000" dirty="0"/>
          </a:p>
        </p:txBody>
      </p:sp>
      <p:pic>
        <p:nvPicPr>
          <p:cNvPr id="4" name="Picture 3">
            <a:extLst>
              <a:ext uri="{FF2B5EF4-FFF2-40B4-BE49-F238E27FC236}">
                <a16:creationId xmlns:a16="http://schemas.microsoft.com/office/drawing/2014/main" id="{3C462773-7F0A-2858-7049-C60C5E1ED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450" y="1106248"/>
            <a:ext cx="6515100" cy="5070715"/>
          </a:xfrm>
          <a:prstGeom prst="rect">
            <a:avLst/>
          </a:prstGeom>
        </p:spPr>
      </p:pic>
      <p:sp>
        <p:nvSpPr>
          <p:cNvPr id="5" name="TextBox 4">
            <a:extLst>
              <a:ext uri="{FF2B5EF4-FFF2-40B4-BE49-F238E27FC236}">
                <a16:creationId xmlns:a16="http://schemas.microsoft.com/office/drawing/2014/main" id="{256F0B69-DAB1-7748-5466-FABEBF13992D}"/>
              </a:ext>
            </a:extLst>
          </p:cNvPr>
          <p:cNvSpPr txBox="1"/>
          <p:nvPr/>
        </p:nvSpPr>
        <p:spPr>
          <a:xfrm>
            <a:off x="3373581" y="3820391"/>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0,9241</a:t>
            </a:r>
          </a:p>
        </p:txBody>
      </p:sp>
      <p:sp>
        <p:nvSpPr>
          <p:cNvPr id="6" name="TextBox 5">
            <a:extLst>
              <a:ext uri="{FF2B5EF4-FFF2-40B4-BE49-F238E27FC236}">
                <a16:creationId xmlns:a16="http://schemas.microsoft.com/office/drawing/2014/main" id="{40D12BB2-AD6A-BE6D-73F5-807A16D47E8E}"/>
              </a:ext>
            </a:extLst>
          </p:cNvPr>
          <p:cNvSpPr txBox="1"/>
          <p:nvPr/>
        </p:nvSpPr>
        <p:spPr>
          <a:xfrm>
            <a:off x="3648940" y="1717735"/>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0,9590</a:t>
            </a:r>
          </a:p>
        </p:txBody>
      </p:sp>
      <p:sp>
        <p:nvSpPr>
          <p:cNvPr id="7" name="TextBox 6">
            <a:extLst>
              <a:ext uri="{FF2B5EF4-FFF2-40B4-BE49-F238E27FC236}">
                <a16:creationId xmlns:a16="http://schemas.microsoft.com/office/drawing/2014/main" id="{D0E01756-1C32-3160-424E-973A39CE0E9F}"/>
              </a:ext>
            </a:extLst>
          </p:cNvPr>
          <p:cNvSpPr txBox="1"/>
          <p:nvPr/>
        </p:nvSpPr>
        <p:spPr>
          <a:xfrm>
            <a:off x="4342532" y="3730391"/>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0,9255</a:t>
            </a:r>
          </a:p>
        </p:txBody>
      </p:sp>
      <p:sp>
        <p:nvSpPr>
          <p:cNvPr id="8" name="TextBox 7">
            <a:extLst>
              <a:ext uri="{FF2B5EF4-FFF2-40B4-BE49-F238E27FC236}">
                <a16:creationId xmlns:a16="http://schemas.microsoft.com/office/drawing/2014/main" id="{EBD8DEE6-14F1-3F31-3F1D-2A26AE2C0134}"/>
              </a:ext>
            </a:extLst>
          </p:cNvPr>
          <p:cNvSpPr txBox="1"/>
          <p:nvPr/>
        </p:nvSpPr>
        <p:spPr>
          <a:xfrm>
            <a:off x="4628282" y="1664693"/>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0,9599</a:t>
            </a:r>
          </a:p>
        </p:txBody>
      </p:sp>
      <p:sp>
        <p:nvSpPr>
          <p:cNvPr id="9" name="TextBox 8">
            <a:extLst>
              <a:ext uri="{FF2B5EF4-FFF2-40B4-BE49-F238E27FC236}">
                <a16:creationId xmlns:a16="http://schemas.microsoft.com/office/drawing/2014/main" id="{ECF9291E-B8B4-C0B3-C07D-53584037D4EE}"/>
              </a:ext>
            </a:extLst>
          </p:cNvPr>
          <p:cNvSpPr txBox="1"/>
          <p:nvPr/>
        </p:nvSpPr>
        <p:spPr>
          <a:xfrm>
            <a:off x="5321874" y="3657637"/>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0,9267</a:t>
            </a:r>
          </a:p>
        </p:txBody>
      </p:sp>
      <p:sp>
        <p:nvSpPr>
          <p:cNvPr id="10" name="TextBox 9">
            <a:extLst>
              <a:ext uri="{FF2B5EF4-FFF2-40B4-BE49-F238E27FC236}">
                <a16:creationId xmlns:a16="http://schemas.microsoft.com/office/drawing/2014/main" id="{DA11A253-6E4B-2569-B7E4-1706E30DD2A0}"/>
              </a:ext>
            </a:extLst>
          </p:cNvPr>
          <p:cNvSpPr txBox="1"/>
          <p:nvPr/>
        </p:nvSpPr>
        <p:spPr>
          <a:xfrm>
            <a:off x="5586842" y="1632433"/>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0,9606</a:t>
            </a:r>
          </a:p>
        </p:txBody>
      </p:sp>
      <p:sp>
        <p:nvSpPr>
          <p:cNvPr id="11" name="TextBox 10">
            <a:extLst>
              <a:ext uri="{FF2B5EF4-FFF2-40B4-BE49-F238E27FC236}">
                <a16:creationId xmlns:a16="http://schemas.microsoft.com/office/drawing/2014/main" id="{02313370-00A8-4A23-4DCA-3C23A7D3CE44}"/>
              </a:ext>
            </a:extLst>
          </p:cNvPr>
          <p:cNvSpPr txBox="1"/>
          <p:nvPr/>
        </p:nvSpPr>
        <p:spPr>
          <a:xfrm>
            <a:off x="6301218" y="3782329"/>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0,9247</a:t>
            </a:r>
          </a:p>
        </p:txBody>
      </p:sp>
      <p:sp>
        <p:nvSpPr>
          <p:cNvPr id="12" name="TextBox 11">
            <a:extLst>
              <a:ext uri="{FF2B5EF4-FFF2-40B4-BE49-F238E27FC236}">
                <a16:creationId xmlns:a16="http://schemas.microsoft.com/office/drawing/2014/main" id="{C8784854-AB79-B97E-AB1F-178E88CA70C0}"/>
              </a:ext>
            </a:extLst>
          </p:cNvPr>
          <p:cNvSpPr txBox="1"/>
          <p:nvPr/>
        </p:nvSpPr>
        <p:spPr>
          <a:xfrm>
            <a:off x="6566186" y="1700564"/>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0,9594</a:t>
            </a:r>
          </a:p>
        </p:txBody>
      </p:sp>
      <p:sp>
        <p:nvSpPr>
          <p:cNvPr id="13" name="TextBox 12">
            <a:extLst>
              <a:ext uri="{FF2B5EF4-FFF2-40B4-BE49-F238E27FC236}">
                <a16:creationId xmlns:a16="http://schemas.microsoft.com/office/drawing/2014/main" id="{D8B6CC9F-D0D3-86A5-6109-6F4592BD67D0}"/>
              </a:ext>
            </a:extLst>
          </p:cNvPr>
          <p:cNvSpPr txBox="1"/>
          <p:nvPr/>
        </p:nvSpPr>
        <p:spPr>
          <a:xfrm>
            <a:off x="7261078" y="3668028"/>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0,9265</a:t>
            </a:r>
          </a:p>
        </p:txBody>
      </p:sp>
      <p:sp>
        <p:nvSpPr>
          <p:cNvPr id="14" name="TextBox 13">
            <a:extLst>
              <a:ext uri="{FF2B5EF4-FFF2-40B4-BE49-F238E27FC236}">
                <a16:creationId xmlns:a16="http://schemas.microsoft.com/office/drawing/2014/main" id="{B568FAFA-4A93-D3F7-A6D2-70D27D5B44A8}"/>
              </a:ext>
            </a:extLst>
          </p:cNvPr>
          <p:cNvSpPr txBox="1"/>
          <p:nvPr/>
        </p:nvSpPr>
        <p:spPr>
          <a:xfrm>
            <a:off x="7545528" y="1625527"/>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0,9605</a:t>
            </a:r>
          </a:p>
        </p:txBody>
      </p:sp>
      <p:sp>
        <p:nvSpPr>
          <p:cNvPr id="15" name="TextBox 14">
            <a:extLst>
              <a:ext uri="{FF2B5EF4-FFF2-40B4-BE49-F238E27FC236}">
                <a16:creationId xmlns:a16="http://schemas.microsoft.com/office/drawing/2014/main" id="{7C11BE01-5D13-35BC-4623-2221F6C05D1E}"/>
              </a:ext>
            </a:extLst>
          </p:cNvPr>
          <p:cNvSpPr txBox="1"/>
          <p:nvPr/>
        </p:nvSpPr>
        <p:spPr>
          <a:xfrm>
            <a:off x="8239120" y="3631214"/>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0,9271</a:t>
            </a:r>
          </a:p>
        </p:txBody>
      </p:sp>
      <p:sp>
        <p:nvSpPr>
          <p:cNvPr id="16" name="TextBox 15">
            <a:extLst>
              <a:ext uri="{FF2B5EF4-FFF2-40B4-BE49-F238E27FC236}">
                <a16:creationId xmlns:a16="http://schemas.microsoft.com/office/drawing/2014/main" id="{2D02AF15-DC4F-021F-0058-8F208F1BB8D5}"/>
              </a:ext>
            </a:extLst>
          </p:cNvPr>
          <p:cNvSpPr txBox="1"/>
          <p:nvPr/>
        </p:nvSpPr>
        <p:spPr>
          <a:xfrm>
            <a:off x="8524870" y="1603658"/>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0,9609</a:t>
            </a:r>
          </a:p>
        </p:txBody>
      </p:sp>
    </p:spTree>
    <p:extLst>
      <p:ext uri="{BB962C8B-B14F-4D97-AF65-F5344CB8AC3E}">
        <p14:creationId xmlns:p14="http://schemas.microsoft.com/office/powerpoint/2010/main" val="2914824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12F28-B2CE-FC38-2506-ED9FD89E27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20A4DB-411B-BE89-12B2-41363286D1A2}"/>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4.4 Kịch bản 3: So sánh hiệu suất các cấu hình khi </a:t>
            </a:r>
            <a:r>
              <a:rPr lang="en-VN" sz="2000" b="1" dirty="0"/>
              <a:t>có</a:t>
            </a:r>
            <a:r>
              <a:rPr lang="en-VN" sz="2000" dirty="0"/>
              <a:t> dữ liệu tăng cường</a:t>
            </a:r>
          </a:p>
          <a:p>
            <a:pPr>
              <a:lnSpc>
                <a:spcPct val="150000"/>
              </a:lnSpc>
            </a:pPr>
            <a:endParaRPr lang="en-VN" sz="2000" dirty="0"/>
          </a:p>
        </p:txBody>
      </p:sp>
      <p:pic>
        <p:nvPicPr>
          <p:cNvPr id="7" name="Picture 6">
            <a:extLst>
              <a:ext uri="{FF2B5EF4-FFF2-40B4-BE49-F238E27FC236}">
                <a16:creationId xmlns:a16="http://schemas.microsoft.com/office/drawing/2014/main" id="{DDC0C99F-D818-F6C7-C165-274DAB146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4825" y="1298483"/>
            <a:ext cx="6102350" cy="4878480"/>
          </a:xfrm>
          <a:prstGeom prst="rect">
            <a:avLst/>
          </a:prstGeom>
        </p:spPr>
      </p:pic>
    </p:spTree>
    <p:extLst>
      <p:ext uri="{BB962C8B-B14F-4D97-AF65-F5344CB8AC3E}">
        <p14:creationId xmlns:p14="http://schemas.microsoft.com/office/powerpoint/2010/main" val="1340442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D3BD9-4B13-4D98-D38B-139D2EFB1B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02BF3-100F-35E8-BE4C-04E622B56FC9}"/>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4.4 Kịch bản 3: So sánh hiệu suất các cấu hình khi </a:t>
            </a:r>
            <a:r>
              <a:rPr lang="en-VN" sz="2000" b="1" dirty="0"/>
              <a:t>có</a:t>
            </a:r>
            <a:r>
              <a:rPr lang="en-VN" sz="2000" dirty="0"/>
              <a:t> dữ liệu tăng cường</a:t>
            </a:r>
          </a:p>
          <a:p>
            <a:pPr>
              <a:lnSpc>
                <a:spcPct val="150000"/>
              </a:lnSpc>
            </a:pPr>
            <a:endParaRPr lang="en-VN" sz="2000" dirty="0"/>
          </a:p>
        </p:txBody>
      </p:sp>
      <p:pic>
        <p:nvPicPr>
          <p:cNvPr id="5" name="Picture 4">
            <a:extLst>
              <a:ext uri="{FF2B5EF4-FFF2-40B4-BE49-F238E27FC236}">
                <a16:creationId xmlns:a16="http://schemas.microsoft.com/office/drawing/2014/main" id="{167D1A90-73D7-552F-D7B7-DE7E546B2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5678" y="1160463"/>
            <a:ext cx="6460643" cy="5016500"/>
          </a:xfrm>
          <a:prstGeom prst="rect">
            <a:avLst/>
          </a:prstGeom>
        </p:spPr>
      </p:pic>
      <p:sp>
        <p:nvSpPr>
          <p:cNvPr id="2" name="TextBox 1">
            <a:extLst>
              <a:ext uri="{FF2B5EF4-FFF2-40B4-BE49-F238E27FC236}">
                <a16:creationId xmlns:a16="http://schemas.microsoft.com/office/drawing/2014/main" id="{BDDA2EDE-7E5A-41AC-195B-AC934B57CBA3}"/>
              </a:ext>
            </a:extLst>
          </p:cNvPr>
          <p:cNvSpPr txBox="1"/>
          <p:nvPr/>
        </p:nvSpPr>
        <p:spPr>
          <a:xfrm>
            <a:off x="3633353" y="3547540"/>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0,9154</a:t>
            </a:r>
          </a:p>
        </p:txBody>
      </p:sp>
      <p:sp>
        <p:nvSpPr>
          <p:cNvPr id="4" name="TextBox 3">
            <a:extLst>
              <a:ext uri="{FF2B5EF4-FFF2-40B4-BE49-F238E27FC236}">
                <a16:creationId xmlns:a16="http://schemas.microsoft.com/office/drawing/2014/main" id="{75C5CD8B-3F6C-7C83-2776-745A808831DD}"/>
              </a:ext>
            </a:extLst>
          </p:cNvPr>
          <p:cNvSpPr txBox="1"/>
          <p:nvPr/>
        </p:nvSpPr>
        <p:spPr>
          <a:xfrm>
            <a:off x="4132117" y="3737931"/>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0,9114</a:t>
            </a:r>
          </a:p>
        </p:txBody>
      </p:sp>
      <p:sp>
        <p:nvSpPr>
          <p:cNvPr id="6" name="TextBox 5">
            <a:extLst>
              <a:ext uri="{FF2B5EF4-FFF2-40B4-BE49-F238E27FC236}">
                <a16:creationId xmlns:a16="http://schemas.microsoft.com/office/drawing/2014/main" id="{95E92D47-603F-3BB4-3018-48DBCACEB99B}"/>
              </a:ext>
            </a:extLst>
          </p:cNvPr>
          <p:cNvSpPr txBox="1"/>
          <p:nvPr/>
        </p:nvSpPr>
        <p:spPr>
          <a:xfrm>
            <a:off x="3887930" y="1773381"/>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0,9539</a:t>
            </a:r>
          </a:p>
        </p:txBody>
      </p:sp>
      <p:sp>
        <p:nvSpPr>
          <p:cNvPr id="7" name="TextBox 6">
            <a:extLst>
              <a:ext uri="{FF2B5EF4-FFF2-40B4-BE49-F238E27FC236}">
                <a16:creationId xmlns:a16="http://schemas.microsoft.com/office/drawing/2014/main" id="{83314E02-453F-7E4F-BE92-1AD8D284457F}"/>
              </a:ext>
            </a:extLst>
          </p:cNvPr>
          <p:cNvSpPr txBox="1"/>
          <p:nvPr/>
        </p:nvSpPr>
        <p:spPr>
          <a:xfrm>
            <a:off x="4388425" y="1884722"/>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0,9515</a:t>
            </a:r>
          </a:p>
        </p:txBody>
      </p:sp>
      <p:sp>
        <p:nvSpPr>
          <p:cNvPr id="8" name="TextBox 7">
            <a:extLst>
              <a:ext uri="{FF2B5EF4-FFF2-40B4-BE49-F238E27FC236}">
                <a16:creationId xmlns:a16="http://schemas.microsoft.com/office/drawing/2014/main" id="{5D924F3C-3E06-22E7-A722-BDCE017404FC}"/>
              </a:ext>
            </a:extLst>
          </p:cNvPr>
          <p:cNvSpPr txBox="1"/>
          <p:nvPr/>
        </p:nvSpPr>
        <p:spPr>
          <a:xfrm>
            <a:off x="5555671" y="2926773"/>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0,9290</a:t>
            </a:r>
          </a:p>
        </p:txBody>
      </p:sp>
      <p:sp>
        <p:nvSpPr>
          <p:cNvPr id="9" name="TextBox 8">
            <a:extLst>
              <a:ext uri="{FF2B5EF4-FFF2-40B4-BE49-F238E27FC236}">
                <a16:creationId xmlns:a16="http://schemas.microsoft.com/office/drawing/2014/main" id="{834CEBB8-C12E-DE80-7C96-CE5BCD6A1EFF}"/>
              </a:ext>
            </a:extLst>
          </p:cNvPr>
          <p:cNvSpPr txBox="1"/>
          <p:nvPr/>
        </p:nvSpPr>
        <p:spPr>
          <a:xfrm>
            <a:off x="6056166" y="3189070"/>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0,9235</a:t>
            </a:r>
          </a:p>
        </p:txBody>
      </p:sp>
      <p:sp>
        <p:nvSpPr>
          <p:cNvPr id="10" name="TextBox 9">
            <a:extLst>
              <a:ext uri="{FF2B5EF4-FFF2-40B4-BE49-F238E27FC236}">
                <a16:creationId xmlns:a16="http://schemas.microsoft.com/office/drawing/2014/main" id="{507E507C-6CFD-350A-A46C-026AA35BBFB4}"/>
              </a:ext>
            </a:extLst>
          </p:cNvPr>
          <p:cNvSpPr txBox="1"/>
          <p:nvPr/>
        </p:nvSpPr>
        <p:spPr>
          <a:xfrm>
            <a:off x="5810248" y="1409700"/>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0,9619</a:t>
            </a:r>
          </a:p>
        </p:txBody>
      </p:sp>
      <p:sp>
        <p:nvSpPr>
          <p:cNvPr id="11" name="TextBox 10">
            <a:extLst>
              <a:ext uri="{FF2B5EF4-FFF2-40B4-BE49-F238E27FC236}">
                <a16:creationId xmlns:a16="http://schemas.microsoft.com/office/drawing/2014/main" id="{153B4AD5-45D4-1E77-EBC4-CCF29031A577}"/>
              </a:ext>
            </a:extLst>
          </p:cNvPr>
          <p:cNvSpPr txBox="1"/>
          <p:nvPr/>
        </p:nvSpPr>
        <p:spPr>
          <a:xfrm>
            <a:off x="6312474" y="1568087"/>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0,9587</a:t>
            </a:r>
          </a:p>
        </p:txBody>
      </p:sp>
      <p:sp>
        <p:nvSpPr>
          <p:cNvPr id="12" name="TextBox 11">
            <a:extLst>
              <a:ext uri="{FF2B5EF4-FFF2-40B4-BE49-F238E27FC236}">
                <a16:creationId xmlns:a16="http://schemas.microsoft.com/office/drawing/2014/main" id="{28D2C29E-447F-4DCD-90FD-AFC7C475C54F}"/>
              </a:ext>
            </a:extLst>
          </p:cNvPr>
          <p:cNvSpPr txBox="1"/>
          <p:nvPr/>
        </p:nvSpPr>
        <p:spPr>
          <a:xfrm>
            <a:off x="7477364" y="3019461"/>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0,9271</a:t>
            </a:r>
          </a:p>
        </p:txBody>
      </p:sp>
      <p:sp>
        <p:nvSpPr>
          <p:cNvPr id="13" name="TextBox 12">
            <a:extLst>
              <a:ext uri="{FF2B5EF4-FFF2-40B4-BE49-F238E27FC236}">
                <a16:creationId xmlns:a16="http://schemas.microsoft.com/office/drawing/2014/main" id="{BD4EBB7C-B039-4125-058D-8FDF5FF64D23}"/>
              </a:ext>
            </a:extLst>
          </p:cNvPr>
          <p:cNvSpPr txBox="1"/>
          <p:nvPr/>
        </p:nvSpPr>
        <p:spPr>
          <a:xfrm>
            <a:off x="7977859" y="3151025"/>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0,9241</a:t>
            </a:r>
          </a:p>
        </p:txBody>
      </p:sp>
      <p:sp>
        <p:nvSpPr>
          <p:cNvPr id="14" name="TextBox 13">
            <a:extLst>
              <a:ext uri="{FF2B5EF4-FFF2-40B4-BE49-F238E27FC236}">
                <a16:creationId xmlns:a16="http://schemas.microsoft.com/office/drawing/2014/main" id="{5748FF5A-1FD7-89E3-4838-ED6A5C252DD7}"/>
              </a:ext>
            </a:extLst>
          </p:cNvPr>
          <p:cNvSpPr txBox="1"/>
          <p:nvPr/>
        </p:nvSpPr>
        <p:spPr>
          <a:xfrm>
            <a:off x="8234167" y="1547305"/>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0,9590</a:t>
            </a:r>
          </a:p>
        </p:txBody>
      </p:sp>
      <p:sp>
        <p:nvSpPr>
          <p:cNvPr id="15" name="TextBox 14">
            <a:extLst>
              <a:ext uri="{FF2B5EF4-FFF2-40B4-BE49-F238E27FC236}">
                <a16:creationId xmlns:a16="http://schemas.microsoft.com/office/drawing/2014/main" id="{C7C2843A-16EA-BC51-DEA5-AD87CD0E2A88}"/>
              </a:ext>
            </a:extLst>
          </p:cNvPr>
          <p:cNvSpPr txBox="1"/>
          <p:nvPr/>
        </p:nvSpPr>
        <p:spPr>
          <a:xfrm>
            <a:off x="7734296" y="1457305"/>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0,9609</a:t>
            </a:r>
          </a:p>
        </p:txBody>
      </p:sp>
    </p:spTree>
    <p:extLst>
      <p:ext uri="{BB962C8B-B14F-4D97-AF65-F5344CB8AC3E}">
        <p14:creationId xmlns:p14="http://schemas.microsoft.com/office/powerpoint/2010/main" val="1640832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402FD-B53A-BFBA-B849-9B35791478F4}"/>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4475CCC-54DE-4661-BF3E-3912E3DB9481}"/>
              </a:ext>
            </a:extLst>
          </p:cNvPr>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a:off x="2759075" y="211138"/>
            <a:ext cx="6673850" cy="6207125"/>
          </a:xfrm>
          <a:prstGeom prst="rect">
            <a:avLst/>
          </a:prstGeom>
        </p:spPr>
      </p:pic>
    </p:spTree>
    <p:extLst>
      <p:ext uri="{BB962C8B-B14F-4D97-AF65-F5344CB8AC3E}">
        <p14:creationId xmlns:p14="http://schemas.microsoft.com/office/powerpoint/2010/main" val="3651254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AA87-9552-2975-704D-34DB085687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791A9-4E11-218A-08F5-06D72074A4C2}"/>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4.4 Hiệu suất phân đoạn khi </a:t>
            </a:r>
            <a:r>
              <a:rPr lang="en-VN" sz="2000" b="1" dirty="0"/>
              <a:t>có</a:t>
            </a:r>
            <a:r>
              <a:rPr lang="en-VN" sz="2000" dirty="0"/>
              <a:t> dữ liệu tăng cường</a:t>
            </a:r>
          </a:p>
          <a:p>
            <a:pPr>
              <a:lnSpc>
                <a:spcPct val="150000"/>
              </a:lnSpc>
            </a:pPr>
            <a:endParaRPr lang="en-VN" sz="2000" dirty="0"/>
          </a:p>
        </p:txBody>
      </p:sp>
      <p:sp>
        <p:nvSpPr>
          <p:cNvPr id="10" name="TextBox 9">
            <a:extLst>
              <a:ext uri="{FF2B5EF4-FFF2-40B4-BE49-F238E27FC236}">
                <a16:creationId xmlns:a16="http://schemas.microsoft.com/office/drawing/2014/main" id="{EC425FFF-FB65-6F18-879B-0F8DDA9CCCA8}"/>
              </a:ext>
            </a:extLst>
          </p:cNvPr>
          <p:cNvSpPr txBox="1"/>
          <p:nvPr/>
        </p:nvSpPr>
        <p:spPr>
          <a:xfrm>
            <a:off x="1905000" y="5969000"/>
            <a:ext cx="184731" cy="369332"/>
          </a:xfrm>
          <a:prstGeom prst="rect">
            <a:avLst/>
          </a:prstGeom>
          <a:noFill/>
        </p:spPr>
        <p:txBody>
          <a:bodyPr wrap="none" rtlCol="0">
            <a:spAutoFit/>
          </a:bodyPr>
          <a:lstStyle/>
          <a:p>
            <a:endParaRPr lang="en-VN" dirty="0"/>
          </a:p>
        </p:txBody>
      </p:sp>
      <p:sp>
        <p:nvSpPr>
          <p:cNvPr id="11" name="Content Placeholder 2">
            <a:extLst>
              <a:ext uri="{FF2B5EF4-FFF2-40B4-BE49-F238E27FC236}">
                <a16:creationId xmlns:a16="http://schemas.microsoft.com/office/drawing/2014/main" id="{B3763AD2-6C50-2513-A8DD-3357E7305769}"/>
              </a:ext>
            </a:extLst>
          </p:cNvPr>
          <p:cNvSpPr txBox="1">
            <a:spLocks/>
          </p:cNvSpPr>
          <p:nvPr/>
        </p:nvSpPr>
        <p:spPr>
          <a:xfrm>
            <a:off x="527049" y="5443422"/>
            <a:ext cx="2839605" cy="6143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1800" dirty="0"/>
              <a:t>UNet3+ nguyên bản</a:t>
            </a:r>
          </a:p>
          <a:p>
            <a:pPr algn="ctr">
              <a:lnSpc>
                <a:spcPct val="150000"/>
              </a:lnSpc>
            </a:pPr>
            <a:endParaRPr lang="en-VN" sz="1800" dirty="0"/>
          </a:p>
        </p:txBody>
      </p:sp>
      <p:sp>
        <p:nvSpPr>
          <p:cNvPr id="12" name="Content Placeholder 2">
            <a:extLst>
              <a:ext uri="{FF2B5EF4-FFF2-40B4-BE49-F238E27FC236}">
                <a16:creationId xmlns:a16="http://schemas.microsoft.com/office/drawing/2014/main" id="{CE9D9805-F36F-8009-330F-16BB96A31E90}"/>
              </a:ext>
            </a:extLst>
          </p:cNvPr>
          <p:cNvSpPr txBox="1">
            <a:spLocks/>
          </p:cNvSpPr>
          <p:nvPr/>
        </p:nvSpPr>
        <p:spPr>
          <a:xfrm>
            <a:off x="8048802" y="5517474"/>
            <a:ext cx="3876497" cy="6143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1800" dirty="0"/>
              <a:t>UNet3+ kết hợp SE-ResNeXt50</a:t>
            </a:r>
          </a:p>
          <a:p>
            <a:pPr algn="ctr">
              <a:lnSpc>
                <a:spcPct val="150000"/>
              </a:lnSpc>
            </a:pPr>
            <a:endParaRPr lang="en-VN" sz="1800" dirty="0"/>
          </a:p>
        </p:txBody>
      </p:sp>
      <p:sp>
        <p:nvSpPr>
          <p:cNvPr id="13" name="Content Placeholder 2">
            <a:extLst>
              <a:ext uri="{FF2B5EF4-FFF2-40B4-BE49-F238E27FC236}">
                <a16:creationId xmlns:a16="http://schemas.microsoft.com/office/drawing/2014/main" id="{28271BFD-4844-46C5-B137-8B7835DAEC49}"/>
              </a:ext>
            </a:extLst>
          </p:cNvPr>
          <p:cNvSpPr txBox="1">
            <a:spLocks/>
          </p:cNvSpPr>
          <p:nvPr/>
        </p:nvSpPr>
        <p:spPr>
          <a:xfrm>
            <a:off x="4390091" y="5506922"/>
            <a:ext cx="3073169" cy="6143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1800" dirty="0"/>
              <a:t>UNet3+ kết hợp ResNet50</a:t>
            </a:r>
          </a:p>
          <a:p>
            <a:pPr algn="ctr">
              <a:lnSpc>
                <a:spcPct val="150000"/>
              </a:lnSpc>
            </a:pPr>
            <a:endParaRPr lang="en-VN" sz="1800" dirty="0"/>
          </a:p>
        </p:txBody>
      </p:sp>
      <p:pic>
        <p:nvPicPr>
          <p:cNvPr id="15" name="Picture 14">
            <a:extLst>
              <a:ext uri="{FF2B5EF4-FFF2-40B4-BE49-F238E27FC236}">
                <a16:creationId xmlns:a16="http://schemas.microsoft.com/office/drawing/2014/main" id="{72EF4E42-FB80-05AC-7687-6C0DF3BDA3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0409" y="2046883"/>
            <a:ext cx="3923265" cy="3132000"/>
          </a:xfrm>
          <a:prstGeom prst="rect">
            <a:avLst/>
          </a:prstGeom>
        </p:spPr>
      </p:pic>
      <p:pic>
        <p:nvPicPr>
          <p:cNvPr id="17" name="Picture 16">
            <a:extLst>
              <a:ext uri="{FF2B5EF4-FFF2-40B4-BE49-F238E27FC236}">
                <a16:creationId xmlns:a16="http://schemas.microsoft.com/office/drawing/2014/main" id="{9FA38FB4-1EE0-9692-08E9-485BBD6F11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3198" y="2046882"/>
            <a:ext cx="3905604" cy="3132000"/>
          </a:xfrm>
          <a:prstGeom prst="rect">
            <a:avLst/>
          </a:prstGeom>
        </p:spPr>
      </p:pic>
      <p:pic>
        <p:nvPicPr>
          <p:cNvPr id="19" name="Picture 18">
            <a:extLst>
              <a:ext uri="{FF2B5EF4-FFF2-40B4-BE49-F238E27FC236}">
                <a16:creationId xmlns:a16="http://schemas.microsoft.com/office/drawing/2014/main" id="{FD3878B5-2445-892F-257A-97671C4CED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931" y="2043380"/>
            <a:ext cx="3899688" cy="3132000"/>
          </a:xfrm>
          <a:prstGeom prst="rect">
            <a:avLst/>
          </a:prstGeom>
        </p:spPr>
      </p:pic>
    </p:spTree>
    <p:extLst>
      <p:ext uri="{BB962C8B-B14F-4D97-AF65-F5344CB8AC3E}">
        <p14:creationId xmlns:p14="http://schemas.microsoft.com/office/powerpoint/2010/main" val="3430298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287D6-20BB-3844-7EFC-5F998DA435CF}"/>
            </a:ext>
          </a:extLst>
        </p:cNvPr>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C61FAE53-6131-E0DF-D4F0-490494908D5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39221" y="656671"/>
            <a:ext cx="5632821" cy="5681662"/>
          </a:xfrm>
        </p:spPr>
      </p:pic>
      <p:sp>
        <p:nvSpPr>
          <p:cNvPr id="10" name="TextBox 9">
            <a:extLst>
              <a:ext uri="{FF2B5EF4-FFF2-40B4-BE49-F238E27FC236}">
                <a16:creationId xmlns:a16="http://schemas.microsoft.com/office/drawing/2014/main" id="{9E54B0D2-FE0C-C12D-3590-533750354A2F}"/>
              </a:ext>
            </a:extLst>
          </p:cNvPr>
          <p:cNvSpPr txBox="1"/>
          <p:nvPr/>
        </p:nvSpPr>
        <p:spPr>
          <a:xfrm>
            <a:off x="1905000" y="5969000"/>
            <a:ext cx="184731" cy="369332"/>
          </a:xfrm>
          <a:prstGeom prst="rect">
            <a:avLst/>
          </a:prstGeom>
          <a:noFill/>
        </p:spPr>
        <p:txBody>
          <a:bodyPr wrap="none" rtlCol="0">
            <a:spAutoFit/>
          </a:bodyPr>
          <a:lstStyle/>
          <a:p>
            <a:endParaRPr lang="en-VN" dirty="0"/>
          </a:p>
        </p:txBody>
      </p:sp>
      <p:sp>
        <p:nvSpPr>
          <p:cNvPr id="2" name="Content Placeholder 2">
            <a:extLst>
              <a:ext uri="{FF2B5EF4-FFF2-40B4-BE49-F238E27FC236}">
                <a16:creationId xmlns:a16="http://schemas.microsoft.com/office/drawing/2014/main" id="{61CDBBFF-D93F-A38C-1FE2-C45FE32BEB2C}"/>
              </a:ext>
            </a:extLst>
          </p:cNvPr>
          <p:cNvSpPr txBox="1">
            <a:spLocks/>
          </p:cNvSpPr>
          <p:nvPr/>
        </p:nvSpPr>
        <p:spPr>
          <a:xfrm>
            <a:off x="597831" y="0"/>
            <a:ext cx="10515600" cy="56816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2000" dirty="0"/>
              <a:t>Kết quả dự đoán UNet3+ kết hợp SE-ResNeXt</a:t>
            </a:r>
          </a:p>
          <a:p>
            <a:pPr>
              <a:lnSpc>
                <a:spcPct val="150000"/>
              </a:lnSpc>
            </a:pPr>
            <a:endParaRPr lang="en-VN" sz="2000" dirty="0"/>
          </a:p>
        </p:txBody>
      </p:sp>
    </p:spTree>
    <p:extLst>
      <p:ext uri="{BB962C8B-B14F-4D97-AF65-F5344CB8AC3E}">
        <p14:creationId xmlns:p14="http://schemas.microsoft.com/office/powerpoint/2010/main" val="1214066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1E343-6B91-48A5-7AFB-352884A52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2C00B-AB66-5084-F5A0-C6EBCA3F55F8}"/>
              </a:ext>
            </a:extLst>
          </p:cNvPr>
          <p:cNvSpPr>
            <a:spLocks noGrp="1"/>
          </p:cNvSpPr>
          <p:nvPr>
            <p:ph type="title"/>
          </p:nvPr>
        </p:nvSpPr>
        <p:spPr/>
        <p:txBody>
          <a:bodyPr/>
          <a:lstStyle/>
          <a:p>
            <a:r>
              <a:rPr lang="en-VN" dirty="0"/>
              <a:t>4. Kết quả thực nghiệm</a:t>
            </a:r>
          </a:p>
        </p:txBody>
      </p:sp>
      <p:sp>
        <p:nvSpPr>
          <p:cNvPr id="3" name="Content Placeholder 2">
            <a:extLst>
              <a:ext uri="{FF2B5EF4-FFF2-40B4-BE49-F238E27FC236}">
                <a16:creationId xmlns:a16="http://schemas.microsoft.com/office/drawing/2014/main" id="{D578247B-2F38-3659-078E-7808C1B82618}"/>
              </a:ext>
            </a:extLst>
          </p:cNvPr>
          <p:cNvSpPr>
            <a:spLocks noGrp="1"/>
          </p:cNvSpPr>
          <p:nvPr>
            <p:ph idx="1"/>
          </p:nvPr>
        </p:nvSpPr>
        <p:spPr/>
        <p:txBody>
          <a:bodyPr>
            <a:normAutofit/>
          </a:bodyPr>
          <a:lstStyle/>
          <a:p>
            <a:pPr>
              <a:lnSpc>
                <a:spcPct val="200000"/>
              </a:lnSpc>
            </a:pPr>
            <a:r>
              <a:rPr lang="en-VN" sz="2000" dirty="0"/>
              <a:t>4.5 Hiệu suất phân đoạn cho </a:t>
            </a:r>
            <a:r>
              <a:rPr lang="en-VN" sz="2000" b="1" dirty="0"/>
              <a:t>vùng</a:t>
            </a:r>
            <a:r>
              <a:rPr lang="en-VN" sz="2000" dirty="0"/>
              <a:t> </a:t>
            </a:r>
            <a:r>
              <a:rPr lang="en-VN" sz="2000" b="1" dirty="0"/>
              <a:t>phổi</a:t>
            </a:r>
          </a:p>
          <a:p>
            <a:pPr>
              <a:lnSpc>
                <a:spcPct val="200000"/>
              </a:lnSpc>
            </a:pPr>
            <a:endParaRPr lang="en-VN" sz="2000" dirty="0"/>
          </a:p>
        </p:txBody>
      </p:sp>
      <p:pic>
        <p:nvPicPr>
          <p:cNvPr id="5" name="Picture 4">
            <a:extLst>
              <a:ext uri="{FF2B5EF4-FFF2-40B4-BE49-F238E27FC236}">
                <a16:creationId xmlns:a16="http://schemas.microsoft.com/office/drawing/2014/main" id="{24CD2352-96EC-F5C5-68F7-C5E17DFF9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708" y="2862116"/>
            <a:ext cx="6212583" cy="2806700"/>
          </a:xfrm>
          <a:prstGeom prst="rect">
            <a:avLst/>
          </a:prstGeom>
        </p:spPr>
      </p:pic>
      <p:sp>
        <p:nvSpPr>
          <p:cNvPr id="6" name="TextBox 5">
            <a:extLst>
              <a:ext uri="{FF2B5EF4-FFF2-40B4-BE49-F238E27FC236}">
                <a16:creationId xmlns:a16="http://schemas.microsoft.com/office/drawing/2014/main" id="{3A3F6E89-4C1B-C410-C772-428A7F3A37F1}"/>
              </a:ext>
            </a:extLst>
          </p:cNvPr>
          <p:cNvSpPr txBox="1"/>
          <p:nvPr/>
        </p:nvSpPr>
        <p:spPr>
          <a:xfrm>
            <a:off x="3124200" y="4632734"/>
            <a:ext cx="1397000" cy="369332"/>
          </a:xfrm>
          <a:prstGeom prst="rect">
            <a:avLst/>
          </a:prstGeom>
          <a:solidFill>
            <a:schemeClr val="bg1"/>
          </a:solidFill>
        </p:spPr>
        <p:txBody>
          <a:bodyPr wrap="square" rtlCol="0">
            <a:spAutoFit/>
          </a:bodyPr>
          <a:lstStyle/>
          <a:p>
            <a:r>
              <a:rPr lang="en-VN" dirty="0">
                <a:latin typeface="Times New Roman" panose="02020603050405020304" pitchFamily="18" charset="0"/>
                <a:cs typeface="Times New Roman" panose="02020603050405020304" pitchFamily="18" charset="0"/>
              </a:rPr>
              <a:t>Nguyen et al</a:t>
            </a:r>
          </a:p>
        </p:txBody>
      </p:sp>
      <p:sp>
        <p:nvSpPr>
          <p:cNvPr id="7" name="TextBox 6">
            <a:extLst>
              <a:ext uri="{FF2B5EF4-FFF2-40B4-BE49-F238E27FC236}">
                <a16:creationId xmlns:a16="http://schemas.microsoft.com/office/drawing/2014/main" id="{66545ABC-97DC-1439-0DE0-35289ACA2E41}"/>
              </a:ext>
            </a:extLst>
          </p:cNvPr>
          <p:cNvSpPr txBox="1"/>
          <p:nvPr/>
        </p:nvSpPr>
        <p:spPr>
          <a:xfrm>
            <a:off x="3124200" y="5165457"/>
            <a:ext cx="1397000" cy="369332"/>
          </a:xfrm>
          <a:prstGeom prst="rect">
            <a:avLst/>
          </a:prstGeom>
          <a:solidFill>
            <a:schemeClr val="bg1"/>
          </a:solidFill>
        </p:spPr>
        <p:txBody>
          <a:bodyPr wrap="square" rtlCol="0">
            <a:spAutoFit/>
          </a:bodyPr>
          <a:lstStyle/>
          <a:p>
            <a:r>
              <a:rPr lang="en-VN" dirty="0"/>
              <a:t>Nguyen et al</a:t>
            </a:r>
          </a:p>
        </p:txBody>
      </p:sp>
    </p:spTree>
    <p:extLst>
      <p:ext uri="{BB962C8B-B14F-4D97-AF65-F5344CB8AC3E}">
        <p14:creationId xmlns:p14="http://schemas.microsoft.com/office/powerpoint/2010/main" val="2665303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0834-059E-5036-0F92-85B403E910F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8EDE114-18CE-FFA8-0896-DEBB41C5D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899" y="2717800"/>
            <a:ext cx="6285285" cy="3632200"/>
          </a:xfrm>
          <a:prstGeom prst="rect">
            <a:avLst/>
          </a:prstGeom>
        </p:spPr>
      </p:pic>
      <p:sp>
        <p:nvSpPr>
          <p:cNvPr id="2" name="Title 1">
            <a:extLst>
              <a:ext uri="{FF2B5EF4-FFF2-40B4-BE49-F238E27FC236}">
                <a16:creationId xmlns:a16="http://schemas.microsoft.com/office/drawing/2014/main" id="{5BD3E74D-C50D-341B-A508-A55107D262CD}"/>
              </a:ext>
            </a:extLst>
          </p:cNvPr>
          <p:cNvSpPr>
            <a:spLocks noGrp="1"/>
          </p:cNvSpPr>
          <p:nvPr>
            <p:ph type="title"/>
          </p:nvPr>
        </p:nvSpPr>
        <p:spPr/>
        <p:txBody>
          <a:bodyPr/>
          <a:lstStyle/>
          <a:p>
            <a:r>
              <a:rPr lang="en-VN" dirty="0"/>
              <a:t>4. Kết quả thực nghiệm</a:t>
            </a:r>
          </a:p>
        </p:txBody>
      </p:sp>
      <p:sp>
        <p:nvSpPr>
          <p:cNvPr id="3" name="Content Placeholder 2">
            <a:extLst>
              <a:ext uri="{FF2B5EF4-FFF2-40B4-BE49-F238E27FC236}">
                <a16:creationId xmlns:a16="http://schemas.microsoft.com/office/drawing/2014/main" id="{83BFBCBF-D12A-C4AC-C612-9F2F0DA052CB}"/>
              </a:ext>
            </a:extLst>
          </p:cNvPr>
          <p:cNvSpPr>
            <a:spLocks noGrp="1"/>
          </p:cNvSpPr>
          <p:nvPr>
            <p:ph idx="1"/>
          </p:nvPr>
        </p:nvSpPr>
        <p:spPr/>
        <p:txBody>
          <a:bodyPr>
            <a:normAutofit/>
          </a:bodyPr>
          <a:lstStyle/>
          <a:p>
            <a:pPr>
              <a:lnSpc>
                <a:spcPct val="200000"/>
              </a:lnSpc>
            </a:pPr>
            <a:r>
              <a:rPr lang="en-VN" sz="2000" dirty="0"/>
              <a:t>4.5 Hiệu suất phân đoạn cho </a:t>
            </a:r>
            <a:r>
              <a:rPr lang="en-VN" sz="2000" b="1" dirty="0"/>
              <a:t>vùng nhiễm COVID-19</a:t>
            </a:r>
          </a:p>
          <a:p>
            <a:pPr>
              <a:lnSpc>
                <a:spcPct val="200000"/>
              </a:lnSpc>
            </a:pPr>
            <a:endParaRPr lang="en-VN" sz="2000" dirty="0"/>
          </a:p>
        </p:txBody>
      </p:sp>
      <p:sp>
        <p:nvSpPr>
          <p:cNvPr id="6" name="TextBox 5">
            <a:extLst>
              <a:ext uri="{FF2B5EF4-FFF2-40B4-BE49-F238E27FC236}">
                <a16:creationId xmlns:a16="http://schemas.microsoft.com/office/drawing/2014/main" id="{FCDD1A9E-4AAE-17E4-437E-D1442BFBF8D7}"/>
              </a:ext>
            </a:extLst>
          </p:cNvPr>
          <p:cNvSpPr txBox="1"/>
          <p:nvPr/>
        </p:nvSpPr>
        <p:spPr>
          <a:xfrm>
            <a:off x="3162300" y="5808543"/>
            <a:ext cx="1397000" cy="369332"/>
          </a:xfrm>
          <a:prstGeom prst="rect">
            <a:avLst/>
          </a:prstGeom>
          <a:solidFill>
            <a:schemeClr val="bg1"/>
          </a:solidFill>
        </p:spPr>
        <p:txBody>
          <a:bodyPr wrap="square" rtlCol="0">
            <a:spAutoFit/>
          </a:bodyPr>
          <a:lstStyle/>
          <a:p>
            <a:r>
              <a:rPr lang="en-VN" dirty="0">
                <a:latin typeface="Times New Roman" panose="02020603050405020304" pitchFamily="18" charset="0"/>
                <a:cs typeface="Times New Roman" panose="02020603050405020304" pitchFamily="18" charset="0"/>
              </a:rPr>
              <a:t>Nguyen et al</a:t>
            </a:r>
          </a:p>
        </p:txBody>
      </p:sp>
      <p:sp>
        <p:nvSpPr>
          <p:cNvPr id="7" name="TextBox 6">
            <a:extLst>
              <a:ext uri="{FF2B5EF4-FFF2-40B4-BE49-F238E27FC236}">
                <a16:creationId xmlns:a16="http://schemas.microsoft.com/office/drawing/2014/main" id="{E904D56C-AAC8-6CE9-376D-E7CC804F929B}"/>
              </a:ext>
            </a:extLst>
          </p:cNvPr>
          <p:cNvSpPr txBox="1"/>
          <p:nvPr/>
        </p:nvSpPr>
        <p:spPr>
          <a:xfrm>
            <a:off x="3162300" y="5287724"/>
            <a:ext cx="1397000" cy="369332"/>
          </a:xfrm>
          <a:prstGeom prst="rect">
            <a:avLst/>
          </a:prstGeom>
          <a:solidFill>
            <a:schemeClr val="bg1"/>
          </a:solidFill>
        </p:spPr>
        <p:txBody>
          <a:bodyPr wrap="square" rtlCol="0">
            <a:spAutoFit/>
          </a:bodyPr>
          <a:lstStyle/>
          <a:p>
            <a:r>
              <a:rPr lang="en-VN" dirty="0"/>
              <a:t>Nguyen et al</a:t>
            </a:r>
          </a:p>
        </p:txBody>
      </p:sp>
      <p:sp>
        <p:nvSpPr>
          <p:cNvPr id="11" name="TextBox 10">
            <a:extLst>
              <a:ext uri="{FF2B5EF4-FFF2-40B4-BE49-F238E27FC236}">
                <a16:creationId xmlns:a16="http://schemas.microsoft.com/office/drawing/2014/main" id="{FDA73903-F6A9-F11B-D814-633DB03B9B86}"/>
              </a:ext>
            </a:extLst>
          </p:cNvPr>
          <p:cNvSpPr txBox="1"/>
          <p:nvPr/>
        </p:nvSpPr>
        <p:spPr>
          <a:xfrm flipV="1">
            <a:off x="3276599" y="4982377"/>
            <a:ext cx="1188000" cy="180000"/>
          </a:xfrm>
          <a:prstGeom prst="rect">
            <a:avLst/>
          </a:prstGeom>
          <a:solidFill>
            <a:schemeClr val="bg1"/>
          </a:solidFill>
        </p:spPr>
        <p:txBody>
          <a:bodyPr wrap="square" rtlCol="0">
            <a:spAutoFit/>
          </a:bodyPr>
          <a:lstStyle/>
          <a:p>
            <a:endParaRPr lang="en-VN" dirty="0"/>
          </a:p>
        </p:txBody>
      </p:sp>
      <p:sp>
        <p:nvSpPr>
          <p:cNvPr id="9" name="TextBox 8">
            <a:extLst>
              <a:ext uri="{FF2B5EF4-FFF2-40B4-BE49-F238E27FC236}">
                <a16:creationId xmlns:a16="http://schemas.microsoft.com/office/drawing/2014/main" id="{D8F39E26-10ED-E274-93E8-E24241A10381}"/>
              </a:ext>
            </a:extLst>
          </p:cNvPr>
          <p:cNvSpPr txBox="1"/>
          <p:nvPr/>
        </p:nvSpPr>
        <p:spPr>
          <a:xfrm>
            <a:off x="3162300" y="4874756"/>
            <a:ext cx="1397000" cy="369332"/>
          </a:xfrm>
          <a:prstGeom prst="rect">
            <a:avLst/>
          </a:prstGeom>
          <a:noFill/>
        </p:spPr>
        <p:txBody>
          <a:bodyPr wrap="square" rtlCol="0">
            <a:spAutoFit/>
          </a:bodyPr>
          <a:lstStyle/>
          <a:p>
            <a:r>
              <a:rPr lang="en-US" dirty="0"/>
              <a:t>Budak</a:t>
            </a:r>
            <a:r>
              <a:rPr lang="en-VN" dirty="0"/>
              <a:t> et al</a:t>
            </a:r>
          </a:p>
        </p:txBody>
      </p:sp>
      <p:sp>
        <p:nvSpPr>
          <p:cNvPr id="13" name="TextBox 12">
            <a:extLst>
              <a:ext uri="{FF2B5EF4-FFF2-40B4-BE49-F238E27FC236}">
                <a16:creationId xmlns:a16="http://schemas.microsoft.com/office/drawing/2014/main" id="{0E89D176-0AB6-F144-3119-D561B016F6DC}"/>
              </a:ext>
            </a:extLst>
          </p:cNvPr>
          <p:cNvSpPr txBox="1"/>
          <p:nvPr/>
        </p:nvSpPr>
        <p:spPr>
          <a:xfrm>
            <a:off x="3162300" y="4461789"/>
            <a:ext cx="1397000" cy="369332"/>
          </a:xfrm>
          <a:prstGeom prst="rect">
            <a:avLst/>
          </a:prstGeom>
          <a:solidFill>
            <a:schemeClr val="bg1"/>
          </a:solidFill>
        </p:spPr>
        <p:txBody>
          <a:bodyPr wrap="square" rtlCol="0">
            <a:spAutoFit/>
          </a:bodyPr>
          <a:lstStyle/>
          <a:p>
            <a:r>
              <a:rPr lang="en-US" dirty="0"/>
              <a:t>Zhou </a:t>
            </a:r>
            <a:r>
              <a:rPr lang="en-VN" dirty="0"/>
              <a:t>et al</a:t>
            </a:r>
          </a:p>
        </p:txBody>
      </p:sp>
    </p:spTree>
    <p:extLst>
      <p:ext uri="{BB962C8B-B14F-4D97-AF65-F5344CB8AC3E}">
        <p14:creationId xmlns:p14="http://schemas.microsoft.com/office/powerpoint/2010/main" val="906513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4A32-B24B-43FE-20A8-1A7C43A5F1A4}"/>
              </a:ext>
            </a:extLst>
          </p:cNvPr>
          <p:cNvSpPr>
            <a:spLocks noGrp="1"/>
          </p:cNvSpPr>
          <p:nvPr>
            <p:ph type="title"/>
          </p:nvPr>
        </p:nvSpPr>
        <p:spPr/>
        <p:txBody>
          <a:bodyPr/>
          <a:lstStyle/>
          <a:p>
            <a:r>
              <a:rPr lang="en-VN" dirty="0"/>
              <a:t>5. Kết luận</a:t>
            </a:r>
          </a:p>
        </p:txBody>
      </p:sp>
      <p:sp>
        <p:nvSpPr>
          <p:cNvPr id="8" name="Content Placeholder 7">
            <a:extLst>
              <a:ext uri="{FF2B5EF4-FFF2-40B4-BE49-F238E27FC236}">
                <a16:creationId xmlns:a16="http://schemas.microsoft.com/office/drawing/2014/main" id="{42B440F3-53E1-E7E7-16C2-22E31CD86C31}"/>
              </a:ext>
            </a:extLst>
          </p:cNvPr>
          <p:cNvSpPr>
            <a:spLocks noGrp="1"/>
          </p:cNvSpPr>
          <p:nvPr>
            <p:ph idx="1"/>
          </p:nvPr>
        </p:nvSpPr>
        <p:spPr/>
        <p:txBody>
          <a:bodyPr>
            <a:normAutofit/>
          </a:bodyPr>
          <a:lstStyle/>
          <a:p>
            <a:pPr marL="342900" indent="-342900">
              <a:buFont typeface="Wingdings" pitchFamily="2" charset="2"/>
              <a:buChar char="v"/>
            </a:pPr>
            <a:r>
              <a:rPr lang="vi-VN" sz="2000" dirty="0"/>
              <a:t>Đóng góp chính của đề tài</a:t>
            </a:r>
          </a:p>
          <a:p>
            <a:endParaRPr lang="vi-VN" sz="2000" dirty="0"/>
          </a:p>
          <a:p>
            <a:pPr marL="800100" lvl="1" indent="-342900">
              <a:buFont typeface="Wingdings" pitchFamily="2" charset="2"/>
              <a:buChar char="Ø"/>
            </a:pPr>
            <a:r>
              <a:rPr lang="vi-VN" sz="2000" dirty="0"/>
              <a:t>Cải tiến thành công UNet3+ mang lại kết quả vượt trội hơn kiến trúc gốc.</a:t>
            </a:r>
          </a:p>
          <a:p>
            <a:pPr marL="800100" lvl="1" indent="-342900">
              <a:buFont typeface="Wingdings" pitchFamily="2" charset="2"/>
              <a:buChar char="Ø"/>
            </a:pPr>
            <a:endParaRPr lang="vi-VN" sz="2000" dirty="0"/>
          </a:p>
          <a:p>
            <a:pPr marL="800100" lvl="1" indent="-342900">
              <a:buFont typeface="Wingdings" pitchFamily="2" charset="2"/>
              <a:buChar char="Ø"/>
            </a:pPr>
            <a:r>
              <a:rPr lang="vi-VN" sz="2000" dirty="0"/>
              <a:t>Kết quả cho thấy phương pháp tăng cường kết hợp có hiệu quả cao nhất, chứng minh được hiệu quả của tăng cường dữ liệu trên dữ liệu y tế.</a:t>
            </a:r>
          </a:p>
          <a:p>
            <a:pPr marL="800100" lvl="1" indent="-342900">
              <a:buFont typeface="Wingdings" pitchFamily="2" charset="2"/>
              <a:buChar char="Ø"/>
            </a:pPr>
            <a:endParaRPr lang="vi-VN" sz="2000" dirty="0"/>
          </a:p>
          <a:p>
            <a:pPr marL="800100" lvl="1" indent="-342900">
              <a:buFont typeface="Wingdings" pitchFamily="2" charset="2"/>
              <a:buChar char="Ø"/>
            </a:pPr>
            <a:r>
              <a:rPr lang="vi-VN" sz="2000" dirty="0"/>
              <a:t>Nâng cao hiệu quả xác định vùng phổi so với nghiên cứu liên quan.</a:t>
            </a:r>
          </a:p>
          <a:p>
            <a:pPr marL="800100" lvl="1" indent="-342900">
              <a:buFont typeface="Wingdings" pitchFamily="2" charset="2"/>
              <a:buChar char="Ø"/>
            </a:pPr>
            <a:endParaRPr lang="vi-VN" sz="2000" dirty="0"/>
          </a:p>
          <a:p>
            <a:pPr marL="800100" lvl="1" indent="-342900">
              <a:buFont typeface="Wingdings" pitchFamily="2" charset="2"/>
              <a:buChar char="Ø"/>
            </a:pPr>
            <a:r>
              <a:rPr lang="vi-VN" sz="2000" dirty="0"/>
              <a:t>Hiệu suất xác định vùng nhiễm COVID-19 được nâng cao ~1% so với nghiên cứu sử dụng UNet++ kết hợp SE-ResNeXt và ~8% so với nghiên cứu dùng Unet tích hợp attention mechanism.</a:t>
            </a:r>
          </a:p>
        </p:txBody>
      </p:sp>
    </p:spTree>
    <p:extLst>
      <p:ext uri="{BB962C8B-B14F-4D97-AF65-F5344CB8AC3E}">
        <p14:creationId xmlns:p14="http://schemas.microsoft.com/office/powerpoint/2010/main" val="1597158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FCE421-6AE1-B007-D4B9-BE802C4C9F37}"/>
              </a:ext>
            </a:extLst>
          </p:cNvPr>
          <p:cNvSpPr>
            <a:spLocks noGrp="1"/>
          </p:cNvSpPr>
          <p:nvPr>
            <p:ph type="ctrTitle"/>
          </p:nvPr>
        </p:nvSpPr>
        <p:spPr/>
        <p:txBody>
          <a:bodyPr/>
          <a:lstStyle/>
          <a:p>
            <a:r>
              <a:rPr lang="en-VN" dirty="0"/>
              <a:t>Demo ứng dụng</a:t>
            </a:r>
          </a:p>
        </p:txBody>
      </p:sp>
    </p:spTree>
    <p:extLst>
      <p:ext uri="{BB962C8B-B14F-4D97-AF65-F5344CB8AC3E}">
        <p14:creationId xmlns:p14="http://schemas.microsoft.com/office/powerpoint/2010/main" val="2352206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A59E51-C619-B13A-4BB1-E098EC5EB723}"/>
              </a:ext>
            </a:extLst>
          </p:cNvPr>
          <p:cNvSpPr>
            <a:spLocks noGrp="1"/>
          </p:cNvSpPr>
          <p:nvPr>
            <p:ph type="ctrTitle"/>
          </p:nvPr>
        </p:nvSpPr>
        <p:spPr/>
        <p:txBody>
          <a:bodyPr/>
          <a:lstStyle/>
          <a:p>
            <a:r>
              <a:rPr lang="en-VN" sz="3600" dirty="0"/>
              <a:t>Cảm ơn quý thầy cô và các bạn đã lắng nghe</a:t>
            </a:r>
          </a:p>
        </p:txBody>
      </p:sp>
    </p:spTree>
    <p:extLst>
      <p:ext uri="{BB962C8B-B14F-4D97-AF65-F5344CB8AC3E}">
        <p14:creationId xmlns:p14="http://schemas.microsoft.com/office/powerpoint/2010/main" val="2972940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6874</TotalTime>
  <Words>1223</Words>
  <Application>Microsoft Office PowerPoint</Application>
  <PresentationFormat>Widescreen</PresentationFormat>
  <Paragraphs>221</Paragraphs>
  <Slides>32</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Wingdings</vt:lpstr>
      <vt:lpstr>Arial</vt:lpstr>
      <vt:lpstr>Times New Roman</vt:lpstr>
      <vt:lpstr>Calibri</vt:lpstr>
      <vt:lpstr>Readex Pro</vt:lpstr>
      <vt:lpstr>Barlow</vt:lpstr>
      <vt:lpstr>K2D</vt:lpstr>
      <vt:lpstr>Office Theme</vt:lpstr>
      <vt:lpstr>TRƯỜNG ĐẠI HỌC CẦN THƠ TRƯỜNG CÔNG NGHỆ THÔNG TIN &amp; TRUYỀN THÔNG KHOA CÔNG NGHỆ THÔNG TIN</vt:lpstr>
      <vt:lpstr>Nội dung</vt:lpstr>
      <vt:lpstr>1. Đặt vấn đề</vt:lpstr>
      <vt:lpstr>1. Đặt vấn đề </vt:lpstr>
      <vt:lpstr>1. Đặt vấn đề</vt:lpstr>
      <vt:lpstr>2. Nội dung nghiên cứu</vt:lpstr>
      <vt:lpstr>3. Phương pháp thực nghiệm</vt:lpstr>
      <vt:lpstr>3. Phương pháp thực nghiệm</vt:lpstr>
      <vt:lpstr>3. Phương pháp thực nghiệm</vt:lpstr>
      <vt:lpstr>3. Phương pháp thực nghiệm</vt:lpstr>
      <vt:lpstr>PowerPoint Presentation</vt:lpstr>
      <vt:lpstr>3. Phương pháp thực nghiệm</vt:lpstr>
      <vt:lpstr>3. Phương pháp thực nghiệm</vt:lpstr>
      <vt:lpstr>3. Phương pháp thực nghiệm</vt:lpstr>
      <vt:lpstr>3. Phương pháp thực nghiệm</vt:lpstr>
      <vt:lpstr>3. Phương pháp thực nghiệm</vt:lpstr>
      <vt:lpstr>4. Kết quả thực nghiệm</vt:lpstr>
      <vt:lpstr>4. Kết quả thực nghiệm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Kết quả thực nghiệm</vt:lpstr>
      <vt:lpstr>4. Kết quả thực nghiệm</vt:lpstr>
      <vt:lpstr>5. Kết luận</vt:lpstr>
      <vt:lpstr>Demo ứng dụng</vt:lpstr>
      <vt:lpstr>Cảm ơn quý thầy cô và các bạn đã lắng nghe</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Việt Nguyễn</cp:lastModifiedBy>
  <cp:revision>259</cp:revision>
  <dcterms:created xsi:type="dcterms:W3CDTF">2022-07-01T08:15:51Z</dcterms:created>
  <dcterms:modified xsi:type="dcterms:W3CDTF">2025-04-09T14:00:19Z</dcterms:modified>
</cp:coreProperties>
</file>